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36dba9b96d04d14" /><Relationship Type="http://schemas.openxmlformats.org/officeDocument/2006/relationships/extended-properties" Target="/docProps/app.xml" Id="Rc62b8673a7e94b9e" /><Relationship Type="http://schemas.openxmlformats.org/officeDocument/2006/relationships/officeDocument" Target="/ppt/presentation.xml" Id="Ra37951340aa14524" /></Relationships>
</file>

<file path=ppt/presentation.xml><?xml version="1.0" encoding="utf-8"?>
<p:presentation xmlns:p="http://schemas.openxmlformats.org/presentationml/2006/main">
  <p:sldMasterIdLst>
    <p:sldMasterId xmlns:r="http://schemas.openxmlformats.org/officeDocument/2006/relationships" id="2147483648" r:id="R7c26a67bb26d409c"/>
  </p:sldMasterIdLst>
  <p:notesMasterIdLst>
    <p:notesMasterId xmlns:r="http://schemas.openxmlformats.org/officeDocument/2006/relationships" r:id="R8942dccf2388425e"/>
  </p:notesMasterIdLst>
  <p:sldIdLst>
    <p:sldId xmlns:r="http://schemas.openxmlformats.org/officeDocument/2006/relationships" id="256" r:id="R84765f42c4e84f46"/>
    <p:sldId xmlns:r="http://schemas.openxmlformats.org/officeDocument/2006/relationships" id="257" r:id="R3346ac2be1b9476e"/>
    <p:sldId xmlns:r="http://schemas.openxmlformats.org/officeDocument/2006/relationships" id="258" r:id="Reed728dd3ca54be8"/>
    <p:sldId xmlns:r="http://schemas.openxmlformats.org/officeDocument/2006/relationships" id="259" r:id="R8f448a84a2384f13"/>
    <p:sldId xmlns:r="http://schemas.openxmlformats.org/officeDocument/2006/relationships" id="260" r:id="R55c8c05b685a4d29"/>
    <p:sldId xmlns:r="http://schemas.openxmlformats.org/officeDocument/2006/relationships" id="261" r:id="Rb37c94de3eeb4c0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4b014df46947e8" /><Relationship Type="http://schemas.openxmlformats.org/officeDocument/2006/relationships/slideMaster" Target="/ppt/slideMasters/slideMaster1.xml" Id="R7c26a67bb26d409c" /><Relationship Type="http://schemas.openxmlformats.org/officeDocument/2006/relationships/notesMaster" Target="/ppt/notesMasters/notesMaster1.xml" Id="R8942dccf2388425e" /><Relationship Type="http://schemas.openxmlformats.org/officeDocument/2006/relationships/presProps" Target="/ppt/presProps.xml" Id="R226145d11abb4130" /><Relationship Type="http://schemas.openxmlformats.org/officeDocument/2006/relationships/tableStyles" Target="/ppt/tableStyles.xml" Id="Re996347cf1ea424c" /><Relationship Type="http://schemas.openxmlformats.org/officeDocument/2006/relationships/slide" Target="/ppt/slides/slide1.xml" Id="R84765f42c4e84f46" /><Relationship Type="http://schemas.openxmlformats.org/officeDocument/2006/relationships/slide" Target="/ppt/slides/slide2.xml" Id="R3346ac2be1b9476e" /><Relationship Type="http://schemas.openxmlformats.org/officeDocument/2006/relationships/slide" Target="/ppt/slides/slide3.xml" Id="Reed728dd3ca54be8" /><Relationship Type="http://schemas.openxmlformats.org/officeDocument/2006/relationships/slide" Target="/ppt/slides/slide4.xml" Id="R8f448a84a2384f13" /><Relationship Type="http://schemas.openxmlformats.org/officeDocument/2006/relationships/slide" Target="/ppt/slides/slide5.xml" Id="R55c8c05b685a4d29" /><Relationship Type="http://schemas.openxmlformats.org/officeDocument/2006/relationships/slide" Target="/ppt/slides/slide6.xml" Id="Rb37c94de3eeb4c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636d7c877b41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5512dcdb474d2a" /><Relationship Type="http://schemas.openxmlformats.org/officeDocument/2006/relationships/notesMaster" Target="/ppt/notesMasters/notesMaster1.xml" Id="R577027edad5b47d8" /></Relationships>
</file>

<file path=ppt/notesSlides/_rels/notesSlide2.xml.rels>&#65279;<?xml version="1.0" encoding="utf-8"?><Relationships xmlns="http://schemas.openxmlformats.org/package/2006/relationships"><Relationship Type="http://schemas.openxmlformats.org/officeDocument/2006/relationships/slide" Target="/ppt/slides/slide2.xml" Id="R8ad299bfe02d4a6b" /><Relationship Type="http://schemas.openxmlformats.org/officeDocument/2006/relationships/notesMaster" Target="/ppt/notesMasters/notesMaster1.xml" Id="R9ca3f90acb5b4a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8ab4607ec95349d5" /><Relationship Type="http://schemas.openxmlformats.org/officeDocument/2006/relationships/notesMaster" Target="/ppt/notesMasters/notesMaster1.xml" Id="R543a4f326bdf4dc5" /></Relationships>
</file>

<file path=ppt/notesSlides/_rels/notesSlide4.xml.rels>&#65279;<?xml version="1.0" encoding="utf-8"?><Relationships xmlns="http://schemas.openxmlformats.org/package/2006/relationships"><Relationship Type="http://schemas.openxmlformats.org/officeDocument/2006/relationships/slide" Target="/ppt/slides/slide4.xml" Id="Ra8f34d2f56834215" /><Relationship Type="http://schemas.openxmlformats.org/officeDocument/2006/relationships/notesMaster" Target="/ppt/notesMasters/notesMaster1.xml" Id="R121f4daf26f540a2"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1d06186ed94793" /><Relationship Type="http://schemas.openxmlformats.org/officeDocument/2006/relationships/notesMaster" Target="/ppt/notesMasters/notesMaster1.xml" Id="R6e860d300dc747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7794c6230e435e" /><Relationship Type="http://schemas.openxmlformats.org/officeDocument/2006/relationships/notesMaster" Target="/ppt/notesMasters/notesMaster1.xml" Id="Re24807a93ad946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CaseCracker to help people understand why their Python code fails. It runs code, makes failing examples easier to understand, and checks suggested fixes. This is a short walkthrough followed by a live demo.</a:t>
            </a:r>
          </a:p>
          <a:p xmlns:a="http://schemas.openxmlformats.org/drawingml/2006/main">
            <a:r>
              <a:t/>
            </a:r>
          </a:p>
          <a:p xmlns:a="http://schemas.openxmlformats.org/drawingml/2006/main">
            <a:r>
              <a:t>Project sources: /Users/ojasvavardhansharma/Desktop/testproject/docs/CaseCracker_Project_Guide.docx; /Users/ojasvavardhansharma/Desktop/testproject/app.py; /Users/ojasvavardhansharma/Desktop/testproject/casecracker/checker.py; /Users/ojasvavardhansharma/Desktop/testproject/casecracker/ai_helper.py; /Users/ojasvavardhansharma/Desktop/testproject/casecracker/remote_runner.py.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program can pass normal examples and still fail on unusual input. The user adds a full problem statement, Python code, and test inputs. A reference solution generates expected outputs. If the user does not have a reference, AI can write a candidate. CaseCracker checks that candidate against known examples before applying it. Passing examples does not guarantee correctness on other inputs. The website also records variables to help explain compatible execution differences.</a:t>
            </a:r>
          </a:p>
          <a:p xmlns:a="http://schemas.openxmlformats.org/drawingml/2006/main">
            <a:r>
              <a:t/>
            </a:r>
          </a:p>
          <a:p xmlns:a="http://schemas.openxmlformats.org/drawingml/2006/main">
            <a:r>
              <a:t>Source: CaseCracker project guide and current app.py, checker.py, ai_helper.py.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is to add all values. For minus two, zero, and five, the correct sum is three. The buggy code ignores negatives and gives five. CaseCracker tries a smaller input: only minus two. The expected answer is minus two, but the buggy answer is zero. Now the error is easy to see. It runs the candidates to confirm the failure still happens. The reduction has a short budget and may not find the smallest possible input. These are illustrative values, not a fresh execution report.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sandbox is a separate protected place where Python runs. It executes the student code, reference code, and proposed fixes. It captures output and errors and stops code that takes too long. E2B isolates public code execution from the main website and disables internet access. The sandbox runs code. The checker compares its output with expected answers. Some other AI tools have sandboxes too.</a:t>
            </a:r>
          </a:p>
          <a:p xmlns:a="http://schemas.openxmlformats.org/drawingml/2006/main">
            <a:r>
              <a:t/>
            </a:r>
          </a:p>
          <a:p xmlns:a="http://schemas.openxmlformats.org/drawingml/2006/main">
            <a:r>
              <a:t>Source: casecracker/remote_runner.py and runner.py.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AI changes total plus equals max value zero into total plus equals value. That includes negative numbers. CaseCracker runs the patch on the supplied test suite before showing a verified badge. The screenshot comes from an earlier live demo where five out of five supplied tests passed. This result applies to those tests, not every possible input.</a:t>
            </a:r>
          </a:p>
          <a:p xmlns:a="http://schemas.openxmlformats.org/drawingml/2006/main">
            <a:r>
              <a:t/>
            </a:r>
          </a:p>
          <a:p xmlns:a="http://schemas.openxmlformats.org/drawingml/2006/main">
            <a:r>
              <a:t>Source screenshot: /tmp/casecracker-live-final-results.png. Code: casecracker/ai_helper.py and checker.py.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benefit is one focused workflow: reproduce a failure, simplify the input, inspect variable changes, and check a proposed fix. A text-only AI reply can suggest answers without running them. Some other coding tools also execute code, so execution alone is not unique. For the live demo open the website, load the execution demo, click Find failing test, show the reduced input and variable difference, then generate and verify a patch. AI and runner service availability may affect timing.</a:t>
            </a:r>
          </a:p>
          <a:p xmlns:a="http://schemas.openxmlformats.org/drawingml/2006/main">
            <a:r>
              <a:t/>
            </a:r>
          </a:p>
          <a:p xmlns:a="http://schemas.openxmlformats.org/drawingml/2006/main">
            <a:r>
              <a:t>Website: https://casecracker-itcq4tjahosrmwkimbbxjd.streamlit.app/</a:t>
            </a:r>
          </a:p>
          <a:p xmlns:a="http://schemas.openxmlformats.org/drawingml/2006/main">
            <a:r>
              <a:t>Source code: https://github.com/devf8rge-project/CaseCracker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65a347f6bb4fb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e0411ba4684fe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0b91cd3f03145b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fbfb8b4fb3841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9318c754a4b47b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370150808a943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1B5759-8341-4620-AF5C-699D4D805E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680D275-8237-4199-B78E-8F4B10C9DB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8DCC418-62F3-4F76-9E4B-02E82B9A51C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90C320-D84B-48EE-9DF3-F2ED242E05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0E33DF2-2940-4528-B59B-7308265C309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E5890F7-963F-4CA8-91E2-E354125829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E5E23E-8D58-4646-A56E-54680FCA08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3AC1E29-0753-4E11-9A31-7ABCB8622E0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4A2F37-6CFE-483A-B008-8EFC8EE5FE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6E9A31A-C10F-45A8-BECB-2997199AE7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5777c850da4484" /><Relationship Type="http://schemas.openxmlformats.org/officeDocument/2006/relationships/slideLayout" Target="/ppt/slideLayouts/slideLayout1.xml" Id="R271d766428024705" /><Relationship Type="http://schemas.openxmlformats.org/officeDocument/2006/relationships/slideLayout" Target="/ppt/slideLayouts/slideLayout2.xml" Id="R12af90c286314c96" /><Relationship Type="http://schemas.openxmlformats.org/officeDocument/2006/relationships/slideLayout" Target="/ppt/slideLayouts/slideLayout3.xml" Id="Rd43dc94951d44c88" /><Relationship Type="http://schemas.openxmlformats.org/officeDocument/2006/relationships/slideLayout" Target="/ppt/slideLayouts/slideLayout4.xml" Id="R6e466e17ed984963" /><Relationship Type="http://schemas.openxmlformats.org/officeDocument/2006/relationships/slideLayout" Target="/ppt/slideLayouts/slideLayout5.xml" Id="R7dcc35552f2e4703" /><Relationship Type="http://schemas.openxmlformats.org/officeDocument/2006/relationships/slideLayout" Target="/ppt/slideLayouts/slideLayout6.xml" Id="R879a195a55344c2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71d766428024705"/>
    <p:sldLayoutId xmlns:r="http://schemas.openxmlformats.org/officeDocument/2006/relationships" id="2147483650" r:id="R12af90c286314c96"/>
    <p:sldLayoutId xmlns:r="http://schemas.openxmlformats.org/officeDocument/2006/relationships" id="2147483651" r:id="Rd43dc94951d44c88"/>
    <p:sldLayoutId xmlns:r="http://schemas.openxmlformats.org/officeDocument/2006/relationships" id="2147483652" r:id="R6e466e17ed984963"/>
    <p:sldLayoutId xmlns:r="http://schemas.openxmlformats.org/officeDocument/2006/relationships" id="2147483653" r:id="R7dcc35552f2e4703"/>
    <p:sldLayoutId xmlns:r="http://schemas.openxmlformats.org/officeDocument/2006/relationships" id="2147483654" r:id="R879a195a55344c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d18c9d30b5e45d6" /><Relationship Type="http://schemas.openxmlformats.org/officeDocument/2006/relationships/image" Target="/ppt/media/image.png" Id="R88c6fcd35e614e49" /><Relationship Type="http://schemas.openxmlformats.org/officeDocument/2006/relationships/notesSlide" Target="/ppt/notesSlides/notesSlide1.xml" Id="R152191054ae04df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02820e55c364f81" /><Relationship Type="http://schemas.openxmlformats.org/officeDocument/2006/relationships/notesSlide" Target="/ppt/notesSlides/notesSlide2.xml" Id="R3daa9af9c1c547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5fe8646b0b145f1" /><Relationship Type="http://schemas.openxmlformats.org/officeDocument/2006/relationships/notesSlide" Target="/ppt/notesSlides/notesSlide3.xml" Id="R6839cb0ac56446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259e4f447af4bf8" /><Relationship Type="http://schemas.openxmlformats.org/officeDocument/2006/relationships/notesSlide" Target="/ppt/notesSlides/notesSlide4.xml" Id="R9b41a44a4deb48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8c83dc5cca4481b" /><Relationship Type="http://schemas.openxmlformats.org/officeDocument/2006/relationships/image" Target="/ppt/media/image2.png" Id="Re87814d0ad014919" /><Relationship Type="http://schemas.openxmlformats.org/officeDocument/2006/relationships/notesSlide" Target="/ppt/notesSlides/notesSlide5.xml" Id="R9b6abaf8a44743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7f054026e334352" /><Relationship Type="http://schemas.openxmlformats.org/officeDocument/2006/relationships/notesSlide" Target="/ppt/notesSlides/notesSlide6.xml" Id="R98e79b12734d4eb7" /></Relationships>
</file>

<file path=ppt/slides/slide1.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2D60D82-F503-4476-9F6D-6771CE4B6C93}"/>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F5F7FF"/>
                </a:solidFill>
                <a:latin typeface="Arial"/>
                <a:ea typeface="Arial"/>
                <a:cs typeface="Arial"/>
              </a:defRPr>
            </a:defPPr>
          </a:lstStyle>
          <a:p xmlns:a="http://schemas.openxmlformats.org/drawingml/2006/main">
            <a:pPr>
              <a:buNone/>
              <a:defRPr sz="5400" b="1">
                <a:solidFill>
                  <a:srgbClr val="F5F7FF"/>
                </a:solidFill>
                <a:latin typeface="Arial"/>
                <a:ea typeface="Arial"/>
                <a:cs typeface="Arial"/>
              </a:defRPr>
            </a:pPr>
            <a:r>
              <a:rPr sz="5400" b="1">
                <a:solidFill>
                  <a:srgbClr val="F5F7FF"/>
                </a:solidFill>
                <a:latin typeface="Arial"/>
                <a:ea typeface="Arial"/>
                <a:cs typeface="Arial"/>
              </a:rPr>
              <a:t>CaseCracker</a:t>
            </a:r>
          </a:p>
        </p:txBody>
      </p:sp>
      <p:sp>
        <p:nvSpPr>
          <p:cNvPr id="2" name="">
            <a:extLst xmlns:a="http://schemas.openxmlformats.org/drawingml/2006/main">
              <a:ext uri="{FF2B5EF4-FFF2-40B4-BE49-F238E27FC236}">
                <a16:creationId xmlns:a16="http://schemas.microsoft.com/office/drawing/2014/main" id="{7D9020CC-EE64-4FC0-A8F4-62F3245BAF15}"/>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buNone/>
              <a:defRPr sz="1350" b="0">
                <a:solidFill>
                  <a:srgbClr val="B4C0D8"/>
                </a:solidFill>
                <a:latin typeface="Arial"/>
                <a:ea typeface="Arial"/>
                <a:cs typeface="Arial"/>
              </a:defRPr>
            </a:pPr>
            <a:r>
              <a:rPr sz="1350" b="0">
                <a:solidFill>
                  <a:srgbClr val="B4C0D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E448BF2B-17F9-47AF-ACF1-E0B4133FB32E}"/>
              </a:ext>
            </a:extLst>
          </p:cNvPr>
          <p:cNvSpPr>
            <a:spLocks xmlns:a="http://schemas.openxmlformats.org/drawingml/2006/main" noGrp="1"/>
          </p:cNvSpPr>
          <p:nvPr/>
        </p:nvSpPr>
        <p:spPr>
          <a:xfrm xmlns:a="http://schemas.openxmlformats.org/drawingml/2006/main">
            <a:off x="647700" y="1981200"/>
            <a:ext cx="9144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C9F500"/>
                </a:solidFill>
                <a:latin typeface="Arial"/>
                <a:ea typeface="Arial"/>
                <a:cs typeface="Arial"/>
              </a:defRPr>
            </a:defPPr>
          </a:lstStyle>
          <a:p xmlns:a="http://schemas.openxmlformats.org/drawingml/2006/main">
            <a:pPr>
              <a:buNone/>
              <a:defRPr sz="3450" b="1">
                <a:solidFill>
                  <a:srgbClr val="C9F500"/>
                </a:solidFill>
                <a:latin typeface="Arial"/>
                <a:ea typeface="Arial"/>
                <a:cs typeface="Arial"/>
              </a:defRPr>
            </a:pPr>
            <a:r>
              <a:rPr sz="3450" b="1">
                <a:solidFill>
                  <a:srgbClr val="C9F500"/>
                </a:solidFill>
                <a:latin typeface="Arial"/>
                <a:ea typeface="Arial"/>
                <a:cs typeface="Arial"/>
              </a:rPr>
              <a:t>A Python debugging website</a:t>
            </a:r>
          </a:p>
        </p:txBody>
      </p:sp>
      <p:sp>
        <p:nvSpPr>
          <p:cNvPr id="4" name="">
            <a:extLst xmlns:a="http://schemas.openxmlformats.org/drawingml/2006/main">
              <a:ext uri="{FF2B5EF4-FFF2-40B4-BE49-F238E27FC236}">
                <a16:creationId xmlns:a16="http://schemas.microsoft.com/office/drawing/2014/main" id="{59DF582B-B73F-4E3E-AA9E-856420CF678D}"/>
              </a:ext>
            </a:extLst>
          </p:cNvPr>
          <p:cNvSpPr>
            <a:spLocks xmlns:a="http://schemas.openxmlformats.org/drawingml/2006/main" noGrp="1"/>
          </p:cNvSpPr>
          <p:nvPr/>
        </p:nvSpPr>
        <p:spPr>
          <a:xfrm xmlns:a="http://schemas.openxmlformats.org/drawingml/2006/main">
            <a:off x="647700" y="3105150"/>
            <a:ext cx="93345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F5F7FF"/>
                </a:solidFill>
                <a:latin typeface="Arial"/>
                <a:ea typeface="Arial"/>
                <a:cs typeface="Arial"/>
              </a:defRPr>
            </a:defPPr>
          </a:lstStyle>
          <a:p xmlns:a="http://schemas.openxmlformats.org/drawingml/2006/main">
            <a:pPr>
              <a:buNone/>
              <a:defRPr sz="2700" b="0">
                <a:solidFill>
                  <a:srgbClr val="F5F7FF"/>
                </a:solidFill>
                <a:latin typeface="Arial"/>
                <a:ea typeface="Arial"/>
                <a:cs typeface="Arial"/>
              </a:defRPr>
            </a:pPr>
            <a:r>
              <a:rPr sz="2700" b="0">
                <a:solidFill>
                  <a:srgbClr val="F5F7FF"/>
                </a:solidFill>
                <a:latin typeface="Arial"/>
                <a:ea typeface="Arial"/>
                <a:cs typeface="Arial"/>
              </a:rPr>
              <a:t>Find a failing input.</a:t>
            </a:r>
          </a:p>
          <a:p xmlns:a="http://schemas.openxmlformats.org/drawingml/2006/main">
            <a:pPr>
              <a:buNone/>
              <a:defRPr sz="2700" b="0">
                <a:solidFill>
                  <a:srgbClr val="F5F7FF"/>
                </a:solidFill>
                <a:latin typeface="Arial"/>
                <a:ea typeface="Arial"/>
                <a:cs typeface="Arial"/>
              </a:defRPr>
            </a:pPr>
            <a:r>
              <a:rPr sz="2700" b="0">
                <a:solidFill>
                  <a:srgbClr val="F5F7FF"/>
                </a:solidFill>
                <a:latin typeface="Arial"/>
                <a:ea typeface="Arial"/>
                <a:cs typeface="Arial"/>
              </a:rPr>
              <a:t>Understand the mistake.</a:t>
            </a:r>
          </a:p>
          <a:p xmlns:a="http://schemas.openxmlformats.org/drawingml/2006/main">
            <a:pPr>
              <a:buNone/>
              <a:defRPr sz="2700" b="0">
                <a:solidFill>
                  <a:srgbClr val="F5F7FF"/>
                </a:solidFill>
                <a:latin typeface="Arial"/>
                <a:ea typeface="Arial"/>
                <a:cs typeface="Arial"/>
              </a:defRPr>
            </a:pPr>
            <a:r>
              <a:rPr sz="2700" b="0">
                <a:solidFill>
                  <a:srgbClr val="F5F7FF"/>
                </a:solidFill>
                <a:latin typeface="Arial"/>
                <a:ea typeface="Arial"/>
                <a:cs typeface="Arial"/>
              </a:rPr>
              <a:t>Check the proposed fix.</a:t>
            </a:r>
          </a:p>
        </p:txBody>
      </p:sp>
      <p:pic>
        <p:nvPicPr>
          <p:cNvPr id="5" name="">
            <a:extLst xmlns:a="http://schemas.openxmlformats.org/drawingml/2006/main">
              <a:ext uri="{FF2B5EF4-FFF2-40B4-BE49-F238E27FC236}">
                <a16:creationId xmlns:a16="http://schemas.microsoft.com/office/drawing/2014/main" id="{9BDF14C5-75A0-4E0E-9BF2-50D302AC5665}"/>
              </a:ext>
            </a:extLst>
          </p:cNvPr>
          <p:cNvPicPr>
            <a:picLocks xmlns:a="http://schemas.openxmlformats.org/drawingml/2006/main" noChangeAspect="1"/>
          </p:cNvPicPr>
          <p:nvPr/>
        </p:nvPicPr>
        <p:blipFill>
          <a:blip xmlns:r="http://schemas.openxmlformats.org/officeDocument/2006/relationships" xmlns:a="http://schemas.openxmlformats.org/drawingml/2006/main" r:embed="R88c6fcd35e614e49"/>
          <a:stretch xmlns:a="http://schemas.openxmlformats.org/drawingml/2006/main"/>
        </p:blipFill>
        <p:spPr>
          <a:xfrm xmlns:a="http://schemas.openxmlformats.org/drawingml/2006/main">
            <a:off x="9525000" y="2019300"/>
            <a:ext cx="1619250" cy="1619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068671C-2C5E-4277-8C91-F96CB4BC7157}"/>
              </a:ext>
            </a:extLst>
          </p:cNvPr>
          <p:cNvSpPr>
            <a:spLocks xmlns:a="http://schemas.openxmlformats.org/drawingml/2006/main" noGrp="1"/>
          </p:cNvSpPr>
          <p:nvPr/>
        </p:nvSpPr>
        <p:spPr>
          <a:xfrm xmlns:a="http://schemas.openxmlformats.org/drawingml/2006/main">
            <a:off x="647700" y="59055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4C0D8"/>
                </a:solidFill>
                <a:latin typeface="Arial"/>
                <a:ea typeface="Arial"/>
                <a:cs typeface="Arial"/>
              </a:defRPr>
            </a:defPPr>
          </a:lstStyle>
          <a:p xmlns:a="http://schemas.openxmlformats.org/drawingml/2006/main">
            <a:pPr>
              <a:buNone/>
              <a:defRPr sz="1650" b="0">
                <a:solidFill>
                  <a:srgbClr val="B4C0D8"/>
                </a:solidFill>
                <a:latin typeface="Arial"/>
                <a:ea typeface="Arial"/>
                <a:cs typeface="Arial"/>
              </a:defRPr>
            </a:pPr>
            <a:r>
              <a:rPr sz="1650" b="0">
                <a:solidFill>
                  <a:srgbClr val="B4C0D8"/>
                </a:solidFill>
                <a:latin typeface="Arial"/>
                <a:ea typeface="Arial"/>
                <a:cs typeface="Arial"/>
              </a:rPr>
              <a:t>Hackathon presentation</a:t>
            </a:r>
          </a:p>
        </p:txBody>
      </p:sp>
    </p:spTree>
    <p:extLst>
      <p:ext uri="{BB962C8B-B14F-4D97-AF65-F5344CB8AC3E}">
        <p14:creationId xmlns:p14="http://schemas.microsoft.com/office/powerpoint/2010/main" val="1900702968"/>
      </p:ext>
    </p:extLst>
  </p:cSld>
</p:sld>
</file>

<file path=ppt/slides/slide2.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419B58D-8EB8-45E4-8BF8-5BA529DF0CB2}"/>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buNone/>
              <a:defRPr sz="3600" b="1">
                <a:solidFill>
                  <a:srgbClr val="F5F7FF"/>
                </a:solidFill>
                <a:latin typeface="Arial"/>
                <a:ea typeface="Arial"/>
                <a:cs typeface="Arial"/>
              </a:defRPr>
            </a:pPr>
            <a:r>
              <a:rPr sz="3600" b="1">
                <a:solidFill>
                  <a:srgbClr val="F5F7FF"/>
                </a:solidFill>
                <a:latin typeface="Arial"/>
                <a:ea typeface="Arial"/>
                <a:cs typeface="Arial"/>
              </a:rPr>
              <a:t>The problem and our solution</a:t>
            </a:r>
          </a:p>
        </p:txBody>
      </p:sp>
      <p:sp>
        <p:nvSpPr>
          <p:cNvPr id="2" name="">
            <a:extLst xmlns:a="http://schemas.openxmlformats.org/drawingml/2006/main">
              <a:ext uri="{FF2B5EF4-FFF2-40B4-BE49-F238E27FC236}">
                <a16:creationId xmlns:a16="http://schemas.microsoft.com/office/drawing/2014/main" id="{E45B4FA0-5B77-498C-A6FD-D8273EE286F7}"/>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buNone/>
              <a:defRPr sz="1350" b="0">
                <a:solidFill>
                  <a:srgbClr val="B4C0D8"/>
                </a:solidFill>
                <a:latin typeface="Arial"/>
                <a:ea typeface="Arial"/>
                <a:cs typeface="Arial"/>
              </a:defRPr>
            </a:pPr>
            <a:r>
              <a:rPr sz="1350" b="0">
                <a:solidFill>
                  <a:srgbClr val="B4C0D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2B3772C2-B8DB-4D77-A829-FA5D456E76DD}"/>
              </a:ext>
            </a:extLst>
          </p:cNvPr>
          <p:cNvSpPr>
            <a:spLocks xmlns:a="http://schemas.openxmlformats.org/drawingml/2006/main" noGrp="1"/>
          </p:cNvSpPr>
          <p:nvPr/>
        </p:nvSpPr>
        <p:spPr>
          <a:xfrm xmlns:a="http://schemas.openxmlformats.org/drawingml/2006/main">
            <a:off x="647700" y="169545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C9F500"/>
                </a:solidFill>
                <a:latin typeface="Arial"/>
                <a:ea typeface="Arial"/>
                <a:cs typeface="Arial"/>
              </a:defRPr>
            </a:defPPr>
          </a:lstStyle>
          <a:p xmlns:a="http://schemas.openxmlformats.org/drawingml/2006/main">
            <a:pPr>
              <a:buNone/>
              <a:defRPr sz="2700" b="1">
                <a:solidFill>
                  <a:srgbClr val="C9F500"/>
                </a:solidFill>
                <a:latin typeface="Arial"/>
                <a:ea typeface="Arial"/>
                <a:cs typeface="Arial"/>
              </a:defRPr>
            </a:pPr>
            <a:r>
              <a:rPr sz="2700" b="1">
                <a:solidFill>
                  <a:srgbClr val="C9F500"/>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B2D667C1-5403-4F1F-AB1C-FCA98D74350E}"/>
              </a:ext>
            </a:extLst>
          </p:cNvPr>
          <p:cNvSpPr>
            <a:spLocks xmlns:a="http://schemas.openxmlformats.org/drawingml/2006/main" noGrp="1"/>
          </p:cNvSpPr>
          <p:nvPr/>
        </p:nvSpPr>
        <p:spPr>
          <a:xfrm xmlns:a="http://schemas.openxmlformats.org/drawingml/2006/main">
            <a:off x="1619250" y="169545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5F7FF"/>
                </a:solidFill>
                <a:latin typeface="Arial"/>
                <a:ea typeface="Arial"/>
                <a:cs typeface="Arial"/>
              </a:defRPr>
            </a:defPPr>
          </a:lstStyle>
          <a:p xmlns:a="http://schemas.openxmlformats.org/drawingml/2006/main">
            <a:pPr>
              <a:buNone/>
              <a:defRPr sz="2400" b="1">
                <a:solidFill>
                  <a:srgbClr val="F5F7FF"/>
                </a:solidFill>
                <a:latin typeface="Arial"/>
                <a:ea typeface="Arial"/>
                <a:cs typeface="Arial"/>
              </a:defRPr>
            </a:pPr>
            <a:r>
              <a:rPr sz="2400" b="1">
                <a:solidFill>
                  <a:srgbClr val="F5F7FF"/>
                </a:solidFill>
                <a:latin typeface="Arial"/>
                <a:ea typeface="Arial"/>
                <a:cs typeface="Arial"/>
              </a:rPr>
              <a:t>Code can fail on an unusual input</a:t>
            </a:r>
          </a:p>
        </p:txBody>
      </p:sp>
      <p:sp>
        <p:nvSpPr>
          <p:cNvPr id="5" name="">
            <a:extLst xmlns:a="http://schemas.openxmlformats.org/drawingml/2006/main">
              <a:ext uri="{FF2B5EF4-FFF2-40B4-BE49-F238E27FC236}">
                <a16:creationId xmlns:a16="http://schemas.microsoft.com/office/drawing/2014/main" id="{EEA96BDD-0BB0-4378-9FA9-BFAA5A66FAE0}"/>
              </a:ext>
            </a:extLst>
          </p:cNvPr>
          <p:cNvSpPr>
            <a:spLocks xmlns:a="http://schemas.openxmlformats.org/drawingml/2006/main" noGrp="1"/>
          </p:cNvSpPr>
          <p:nvPr/>
        </p:nvSpPr>
        <p:spPr>
          <a:xfrm xmlns:a="http://schemas.openxmlformats.org/drawingml/2006/main">
            <a:off x="1619250" y="2143125"/>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0D8"/>
                </a:solidFill>
                <a:latin typeface="Arial"/>
                <a:ea typeface="Arial"/>
                <a:cs typeface="Arial"/>
              </a:defRPr>
            </a:defPPr>
          </a:lstStyle>
          <a:p xmlns:a="http://schemas.openxmlformats.org/drawingml/2006/main">
            <a:pPr>
              <a:buNone/>
              <a:defRPr sz="1875" b="0">
                <a:solidFill>
                  <a:srgbClr val="B4C0D8"/>
                </a:solidFill>
                <a:latin typeface="Arial"/>
                <a:ea typeface="Arial"/>
                <a:cs typeface="Arial"/>
              </a:defRPr>
            </a:pPr>
            <a:r>
              <a:rPr sz="1875" b="0">
                <a:solidFill>
                  <a:srgbClr val="B4C0D8"/>
                </a:solidFill>
                <a:latin typeface="Arial"/>
                <a:ea typeface="Arial"/>
                <a:cs typeface="Arial"/>
              </a:rPr>
              <a:t>CaseCracker helps users find and understand that failure.</a:t>
            </a:r>
          </a:p>
        </p:txBody>
      </p:sp>
      <p:sp>
        <p:nvSpPr>
          <p:cNvPr id="6" name="">
            <a:extLst xmlns:a="http://schemas.openxmlformats.org/drawingml/2006/main">
              <a:ext uri="{FF2B5EF4-FFF2-40B4-BE49-F238E27FC236}">
                <a16:creationId xmlns:a16="http://schemas.microsoft.com/office/drawing/2014/main" id="{00B00E74-C99B-458D-8B59-706AFB4A6C32}"/>
              </a:ext>
            </a:extLst>
          </p:cNvPr>
          <p:cNvSpPr>
            <a:spLocks xmlns:a="http://schemas.openxmlformats.org/drawingml/2006/main" noGrp="1"/>
          </p:cNvSpPr>
          <p:nvPr/>
        </p:nvSpPr>
        <p:spPr>
          <a:xfrm xmlns:a="http://schemas.openxmlformats.org/drawingml/2006/main">
            <a:off x="647700" y="275272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C9F500"/>
                </a:solidFill>
                <a:latin typeface="Arial"/>
                <a:ea typeface="Arial"/>
                <a:cs typeface="Arial"/>
              </a:defRPr>
            </a:defPPr>
          </a:lstStyle>
          <a:p xmlns:a="http://schemas.openxmlformats.org/drawingml/2006/main">
            <a:pPr>
              <a:buNone/>
              <a:defRPr sz="2700" b="1">
                <a:solidFill>
                  <a:srgbClr val="C9F500"/>
                </a:solidFill>
                <a:latin typeface="Arial"/>
                <a:ea typeface="Arial"/>
                <a:cs typeface="Arial"/>
              </a:defRPr>
            </a:pPr>
            <a:r>
              <a:rPr sz="2700" b="1">
                <a:solidFill>
                  <a:srgbClr val="C9F500"/>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8275166C-8E40-4E6D-9F69-BA8B6522FAF6}"/>
              </a:ext>
            </a:extLst>
          </p:cNvPr>
          <p:cNvSpPr>
            <a:spLocks xmlns:a="http://schemas.openxmlformats.org/drawingml/2006/main" noGrp="1"/>
          </p:cNvSpPr>
          <p:nvPr/>
        </p:nvSpPr>
        <p:spPr>
          <a:xfrm xmlns:a="http://schemas.openxmlformats.org/drawingml/2006/main">
            <a:off x="1619250" y="275272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5F7FF"/>
                </a:solidFill>
                <a:latin typeface="Arial"/>
                <a:ea typeface="Arial"/>
                <a:cs typeface="Arial"/>
              </a:defRPr>
            </a:defPPr>
          </a:lstStyle>
          <a:p xmlns:a="http://schemas.openxmlformats.org/drawingml/2006/main">
            <a:pPr>
              <a:buNone/>
              <a:defRPr sz="2400" b="1">
                <a:solidFill>
                  <a:srgbClr val="F5F7FF"/>
                </a:solidFill>
                <a:latin typeface="Arial"/>
                <a:ea typeface="Arial"/>
                <a:cs typeface="Arial"/>
              </a:defRPr>
            </a:pPr>
            <a:r>
              <a:rPr sz="2400" b="1">
                <a:solidFill>
                  <a:srgbClr val="F5F7FF"/>
                </a:solidFill>
                <a:latin typeface="Arial"/>
                <a:ea typeface="Arial"/>
                <a:cs typeface="Arial"/>
              </a:rPr>
              <a:t>Add the problem, code, and tests</a:t>
            </a:r>
          </a:p>
        </p:txBody>
      </p:sp>
      <p:sp>
        <p:nvSpPr>
          <p:cNvPr id="8" name="">
            <a:extLst xmlns:a="http://schemas.openxmlformats.org/drawingml/2006/main">
              <a:ext uri="{FF2B5EF4-FFF2-40B4-BE49-F238E27FC236}">
                <a16:creationId xmlns:a16="http://schemas.microsoft.com/office/drawing/2014/main" id="{83B470CD-9F0E-4611-B47E-EFCA413CF0BC}"/>
              </a:ext>
            </a:extLst>
          </p:cNvPr>
          <p:cNvSpPr>
            <a:spLocks xmlns:a="http://schemas.openxmlformats.org/drawingml/2006/main" noGrp="1"/>
          </p:cNvSpPr>
          <p:nvPr/>
        </p:nvSpPr>
        <p:spPr>
          <a:xfrm xmlns:a="http://schemas.openxmlformats.org/drawingml/2006/main">
            <a:off x="1619250" y="320040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0D8"/>
                </a:solidFill>
                <a:latin typeface="Arial"/>
                <a:ea typeface="Arial"/>
                <a:cs typeface="Arial"/>
              </a:defRPr>
            </a:defPPr>
          </a:lstStyle>
          <a:p xmlns:a="http://schemas.openxmlformats.org/drawingml/2006/main">
            <a:pPr>
              <a:buNone/>
              <a:defRPr sz="1875" b="0">
                <a:solidFill>
                  <a:srgbClr val="B4C0D8"/>
                </a:solidFill>
                <a:latin typeface="Arial"/>
                <a:ea typeface="Arial"/>
                <a:cs typeface="Arial"/>
              </a:defRPr>
            </a:pPr>
            <a:r>
              <a:rPr sz="1875" b="0">
                <a:solidFill>
                  <a:srgbClr val="B4C0D8"/>
                </a:solidFill>
                <a:latin typeface="Arial"/>
                <a:ea typeface="Arial"/>
                <a:cs typeface="Arial"/>
              </a:rPr>
              <a:t>A reference solution generates the expected answers.</a:t>
            </a:r>
          </a:p>
        </p:txBody>
      </p:sp>
      <p:sp>
        <p:nvSpPr>
          <p:cNvPr id="9" name="">
            <a:extLst xmlns:a="http://schemas.openxmlformats.org/drawingml/2006/main">
              <a:ext uri="{FF2B5EF4-FFF2-40B4-BE49-F238E27FC236}">
                <a16:creationId xmlns:a16="http://schemas.microsoft.com/office/drawing/2014/main" id="{A29ECA08-A13D-44D1-ADBA-B1AA76A4D32B}"/>
              </a:ext>
            </a:extLst>
          </p:cNvPr>
          <p:cNvSpPr>
            <a:spLocks xmlns:a="http://schemas.openxmlformats.org/drawingml/2006/main" noGrp="1"/>
          </p:cNvSpPr>
          <p:nvPr/>
        </p:nvSpPr>
        <p:spPr>
          <a:xfrm xmlns:a="http://schemas.openxmlformats.org/drawingml/2006/main">
            <a:off x="647700" y="38100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C9F500"/>
                </a:solidFill>
                <a:latin typeface="Arial"/>
                <a:ea typeface="Arial"/>
                <a:cs typeface="Arial"/>
              </a:defRPr>
            </a:defPPr>
          </a:lstStyle>
          <a:p xmlns:a="http://schemas.openxmlformats.org/drawingml/2006/main">
            <a:pPr>
              <a:buNone/>
              <a:defRPr sz="2700" b="1">
                <a:solidFill>
                  <a:srgbClr val="C9F500"/>
                </a:solidFill>
                <a:latin typeface="Arial"/>
                <a:ea typeface="Arial"/>
                <a:cs typeface="Arial"/>
              </a:defRPr>
            </a:pPr>
            <a:r>
              <a:rPr sz="2700" b="1">
                <a:solidFill>
                  <a:srgbClr val="C9F500"/>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20F09C37-336C-408D-AF8D-7A2D462452BD}"/>
              </a:ext>
            </a:extLst>
          </p:cNvPr>
          <p:cNvSpPr>
            <a:spLocks xmlns:a="http://schemas.openxmlformats.org/drawingml/2006/main" noGrp="1"/>
          </p:cNvSpPr>
          <p:nvPr/>
        </p:nvSpPr>
        <p:spPr>
          <a:xfrm xmlns:a="http://schemas.openxmlformats.org/drawingml/2006/main">
            <a:off x="1619250" y="3810000"/>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5F7FF"/>
                </a:solidFill>
                <a:latin typeface="Arial"/>
                <a:ea typeface="Arial"/>
                <a:cs typeface="Arial"/>
              </a:defRPr>
            </a:defPPr>
          </a:lstStyle>
          <a:p xmlns:a="http://schemas.openxmlformats.org/drawingml/2006/main">
            <a:pPr>
              <a:buNone/>
              <a:defRPr sz="2400" b="1">
                <a:solidFill>
                  <a:srgbClr val="F5F7FF"/>
                </a:solidFill>
                <a:latin typeface="Arial"/>
                <a:ea typeface="Arial"/>
                <a:cs typeface="Arial"/>
              </a:defRPr>
            </a:pPr>
            <a:r>
              <a:rPr sz="2400" b="1">
                <a:solidFill>
                  <a:srgbClr val="F5F7FF"/>
                </a:solidFill>
                <a:latin typeface="Arial"/>
                <a:ea typeface="Arial"/>
                <a:cs typeface="Arial"/>
              </a:rPr>
              <a:t>Compare answers and inspect variables</a:t>
            </a:r>
          </a:p>
        </p:txBody>
      </p:sp>
      <p:sp>
        <p:nvSpPr>
          <p:cNvPr id="11" name="">
            <a:extLst xmlns:a="http://schemas.openxmlformats.org/drawingml/2006/main">
              <a:ext uri="{FF2B5EF4-FFF2-40B4-BE49-F238E27FC236}">
                <a16:creationId xmlns:a16="http://schemas.microsoft.com/office/drawing/2014/main" id="{67941F6A-02FE-4D96-8EE2-2169DBA2C0F0}"/>
              </a:ext>
            </a:extLst>
          </p:cNvPr>
          <p:cNvSpPr>
            <a:spLocks xmlns:a="http://schemas.openxmlformats.org/drawingml/2006/main" noGrp="1"/>
          </p:cNvSpPr>
          <p:nvPr/>
        </p:nvSpPr>
        <p:spPr>
          <a:xfrm xmlns:a="http://schemas.openxmlformats.org/drawingml/2006/main">
            <a:off x="1619250" y="4257675"/>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0D8"/>
                </a:solidFill>
                <a:latin typeface="Arial"/>
                <a:ea typeface="Arial"/>
                <a:cs typeface="Arial"/>
              </a:defRPr>
            </a:defPPr>
          </a:lstStyle>
          <a:p xmlns:a="http://schemas.openxmlformats.org/drawingml/2006/main">
            <a:pPr>
              <a:buNone/>
              <a:defRPr sz="1875" b="0">
                <a:solidFill>
                  <a:srgbClr val="B4C0D8"/>
                </a:solidFill>
                <a:latin typeface="Arial"/>
                <a:ea typeface="Arial"/>
                <a:cs typeface="Arial"/>
              </a:defRPr>
            </a:pPr>
            <a:r>
              <a:rPr sz="1875" b="0">
                <a:solidFill>
                  <a:srgbClr val="B4C0D8"/>
                </a:solidFill>
                <a:latin typeface="Arial"/>
                <a:ea typeface="Arial"/>
                <a:cs typeface="Arial"/>
              </a:rPr>
              <a:t>Find a smaller input that still makes the code fail.</a:t>
            </a:r>
          </a:p>
        </p:txBody>
      </p:sp>
      <p:sp>
        <p:nvSpPr>
          <p:cNvPr id="12" name="">
            <a:extLst xmlns:a="http://schemas.openxmlformats.org/drawingml/2006/main">
              <a:ext uri="{FF2B5EF4-FFF2-40B4-BE49-F238E27FC236}">
                <a16:creationId xmlns:a16="http://schemas.microsoft.com/office/drawing/2014/main" id="{56B1B0AC-A00C-4CBC-8BDB-894DC9993DAB}"/>
              </a:ext>
            </a:extLst>
          </p:cNvPr>
          <p:cNvSpPr>
            <a:spLocks xmlns:a="http://schemas.openxmlformats.org/drawingml/2006/main" noGrp="1"/>
          </p:cNvSpPr>
          <p:nvPr/>
        </p:nvSpPr>
        <p:spPr>
          <a:xfrm xmlns:a="http://schemas.openxmlformats.org/drawingml/2006/main">
            <a:off x="647700" y="4867275"/>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C9F500"/>
                </a:solidFill>
                <a:latin typeface="Arial"/>
                <a:ea typeface="Arial"/>
                <a:cs typeface="Arial"/>
              </a:defRPr>
            </a:defPPr>
          </a:lstStyle>
          <a:p xmlns:a="http://schemas.openxmlformats.org/drawingml/2006/main">
            <a:pPr>
              <a:buNone/>
              <a:defRPr sz="2700" b="1">
                <a:solidFill>
                  <a:srgbClr val="C9F500"/>
                </a:solidFill>
                <a:latin typeface="Arial"/>
                <a:ea typeface="Arial"/>
                <a:cs typeface="Arial"/>
              </a:defRPr>
            </a:pPr>
            <a:r>
              <a:rPr sz="2700" b="1">
                <a:solidFill>
                  <a:srgbClr val="C9F500"/>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4E229613-CD35-405F-9E40-677524E50FE8}"/>
              </a:ext>
            </a:extLst>
          </p:cNvPr>
          <p:cNvSpPr>
            <a:spLocks xmlns:a="http://schemas.openxmlformats.org/drawingml/2006/main" noGrp="1"/>
          </p:cNvSpPr>
          <p:nvPr/>
        </p:nvSpPr>
        <p:spPr>
          <a:xfrm xmlns:a="http://schemas.openxmlformats.org/drawingml/2006/main">
            <a:off x="1619250" y="4867275"/>
            <a:ext cx="9715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F5F7FF"/>
                </a:solidFill>
                <a:latin typeface="Arial"/>
                <a:ea typeface="Arial"/>
                <a:cs typeface="Arial"/>
              </a:defRPr>
            </a:defPPr>
          </a:lstStyle>
          <a:p xmlns:a="http://schemas.openxmlformats.org/drawingml/2006/main">
            <a:pPr>
              <a:buNone/>
              <a:defRPr sz="2400" b="1">
                <a:solidFill>
                  <a:srgbClr val="F5F7FF"/>
                </a:solidFill>
                <a:latin typeface="Arial"/>
                <a:ea typeface="Arial"/>
                <a:cs typeface="Arial"/>
              </a:defRPr>
            </a:pPr>
            <a:r>
              <a:rPr sz="2400" b="1">
                <a:solidFill>
                  <a:srgbClr val="F5F7FF"/>
                </a:solidFill>
                <a:latin typeface="Arial"/>
                <a:ea typeface="Arial"/>
                <a:cs typeface="Arial"/>
              </a:rPr>
              <a:t>Ask AI for a fix and test it</a:t>
            </a:r>
          </a:p>
        </p:txBody>
      </p:sp>
      <p:sp>
        <p:nvSpPr>
          <p:cNvPr id="14" name="">
            <a:extLst xmlns:a="http://schemas.openxmlformats.org/drawingml/2006/main">
              <a:ext uri="{FF2B5EF4-FFF2-40B4-BE49-F238E27FC236}">
                <a16:creationId xmlns:a16="http://schemas.microsoft.com/office/drawing/2014/main" id="{ABFB0C3A-CBBC-4F14-AD93-21A48C4E4B2E}"/>
              </a:ext>
            </a:extLst>
          </p:cNvPr>
          <p:cNvSpPr>
            <a:spLocks xmlns:a="http://schemas.openxmlformats.org/drawingml/2006/main" noGrp="1"/>
          </p:cNvSpPr>
          <p:nvPr/>
        </p:nvSpPr>
        <p:spPr>
          <a:xfrm xmlns:a="http://schemas.openxmlformats.org/drawingml/2006/main">
            <a:off x="1619250" y="5314950"/>
            <a:ext cx="971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0D8"/>
                </a:solidFill>
                <a:latin typeface="Arial"/>
                <a:ea typeface="Arial"/>
                <a:cs typeface="Arial"/>
              </a:defRPr>
            </a:defPPr>
          </a:lstStyle>
          <a:p xmlns:a="http://schemas.openxmlformats.org/drawingml/2006/main">
            <a:pPr>
              <a:buNone/>
              <a:defRPr sz="1875" b="0">
                <a:solidFill>
                  <a:srgbClr val="B4C0D8"/>
                </a:solidFill>
                <a:latin typeface="Arial"/>
                <a:ea typeface="Arial"/>
                <a:cs typeface="Arial"/>
              </a:defRPr>
            </a:pPr>
            <a:r>
              <a:rPr sz="1875" b="0">
                <a:solidFill>
                  <a:srgbClr val="B4C0D8"/>
                </a:solidFill>
                <a:latin typeface="Arial"/>
                <a:ea typeface="Arial"/>
                <a:cs typeface="Arial"/>
              </a:rPr>
              <a:t>The runner checks the proposed change on supplied tests.</a:t>
            </a:r>
          </a:p>
        </p:txBody>
      </p:sp>
    </p:spTree>
    <p:extLst>
      <p:ext uri="{BB962C8B-B14F-4D97-AF65-F5344CB8AC3E}">
        <p14:creationId xmlns:p14="http://schemas.microsoft.com/office/powerpoint/2010/main" val="1638729231"/>
      </p:ext>
    </p:extLst>
  </p:cSld>
</p:sld>
</file>

<file path=ppt/slides/slide3.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D8E4713-9DD1-48FC-80CE-FA8B58174E31}"/>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buNone/>
              <a:defRPr sz="3600" b="1">
                <a:solidFill>
                  <a:srgbClr val="F5F7FF"/>
                </a:solidFill>
                <a:latin typeface="Arial"/>
                <a:ea typeface="Arial"/>
                <a:cs typeface="Arial"/>
              </a:defRPr>
            </a:pPr>
            <a:r>
              <a:rPr sz="3600" b="1">
                <a:solidFill>
                  <a:srgbClr val="F5F7FF"/>
                </a:solidFill>
                <a:latin typeface="Arial"/>
                <a:ea typeface="Arial"/>
                <a:cs typeface="Arial"/>
              </a:rPr>
              <a:t>A simple example of finding a bug</a:t>
            </a:r>
          </a:p>
        </p:txBody>
      </p:sp>
      <p:sp>
        <p:nvSpPr>
          <p:cNvPr id="2" name="">
            <a:extLst xmlns:a="http://schemas.openxmlformats.org/drawingml/2006/main">
              <a:ext uri="{FF2B5EF4-FFF2-40B4-BE49-F238E27FC236}">
                <a16:creationId xmlns:a16="http://schemas.microsoft.com/office/drawing/2014/main" id="{AB50EF96-3450-4D76-A70C-60834EA91165}"/>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buNone/>
              <a:defRPr sz="1350" b="0">
                <a:solidFill>
                  <a:srgbClr val="B4C0D8"/>
                </a:solidFill>
                <a:latin typeface="Arial"/>
                <a:ea typeface="Arial"/>
                <a:cs typeface="Arial"/>
              </a:defRPr>
            </a:pPr>
            <a:r>
              <a:rPr sz="1350" b="0">
                <a:solidFill>
                  <a:srgbClr val="B4C0D8"/>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BFD2F8C-65D8-41A1-AF95-799D6336EF36}"/>
              </a:ext>
            </a:extLst>
          </p:cNvPr>
          <p:cNvSpPr>
            <a:spLocks xmlns:a="http://schemas.openxmlformats.org/drawingml/2006/main" noGrp="1"/>
          </p:cNvSpPr>
          <p:nvPr/>
        </p:nvSpPr>
        <p:spPr>
          <a:xfrm xmlns:a="http://schemas.openxmlformats.org/drawingml/2006/main">
            <a:off x="647700" y="19050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B4C0D8"/>
                </a:solidFill>
                <a:latin typeface="Arial"/>
                <a:ea typeface="Arial"/>
                <a:cs typeface="Arial"/>
              </a:defRPr>
            </a:defPPr>
          </a:lstStyle>
          <a:p xmlns:a="http://schemas.openxmlformats.org/drawingml/2006/main">
            <a:pPr>
              <a:buNone/>
              <a:defRPr sz="2100" b="0">
                <a:solidFill>
                  <a:srgbClr val="B4C0D8"/>
                </a:solidFill>
                <a:latin typeface="Arial"/>
                <a:ea typeface="Arial"/>
                <a:cs typeface="Arial"/>
              </a:defRPr>
            </a:pPr>
            <a:r>
              <a:rPr sz="2100" b="0">
                <a:solidFill>
                  <a:srgbClr val="B4C0D8"/>
                </a:solidFill>
                <a:latin typeface="Arial"/>
                <a:ea typeface="Arial"/>
                <a:cs typeface="Arial"/>
              </a:rPr>
              <a:t>Task: add all numbers</a:t>
            </a:r>
          </a:p>
        </p:txBody>
      </p:sp>
      <p:sp>
        <p:nvSpPr>
          <p:cNvPr id="4" name="">
            <a:extLst xmlns:a="http://schemas.openxmlformats.org/drawingml/2006/main">
              <a:ext uri="{FF2B5EF4-FFF2-40B4-BE49-F238E27FC236}">
                <a16:creationId xmlns:a16="http://schemas.microsoft.com/office/drawing/2014/main" id="{CF917749-CD2B-4545-BFC6-8629C622EF39}"/>
              </a:ext>
            </a:extLst>
          </p:cNvPr>
          <p:cNvSpPr>
            <a:spLocks xmlns:a="http://schemas.openxmlformats.org/drawingml/2006/main" noGrp="1"/>
          </p:cNvSpPr>
          <p:nvPr/>
        </p:nvSpPr>
        <p:spPr>
          <a:xfrm xmlns:a="http://schemas.openxmlformats.org/drawingml/2006/main">
            <a:off x="647700" y="2571750"/>
            <a:ext cx="619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950" b="1">
                <a:solidFill>
                  <a:srgbClr val="F5F7FF"/>
                </a:solidFill>
                <a:latin typeface="Arial"/>
                <a:ea typeface="Arial"/>
                <a:cs typeface="Arial"/>
              </a:defRPr>
            </a:defPPr>
          </a:lstStyle>
          <a:p xmlns:a="http://schemas.openxmlformats.org/drawingml/2006/main">
            <a:pPr>
              <a:buNone/>
              <a:defRPr sz="4950" b="1">
                <a:solidFill>
                  <a:srgbClr val="F5F7FF"/>
                </a:solidFill>
                <a:latin typeface="Arial"/>
                <a:ea typeface="Arial"/>
                <a:cs typeface="Arial"/>
              </a:defRPr>
            </a:pPr>
            <a:r>
              <a:rPr sz="4950" b="1">
                <a:solidFill>
                  <a:srgbClr val="F5F7FF"/>
                </a:solidFill>
                <a:latin typeface="Arial"/>
                <a:ea typeface="Arial"/>
                <a:cs typeface="Arial"/>
              </a:rPr>
              <a:t>-2    0    5</a:t>
            </a:r>
          </a:p>
        </p:txBody>
      </p:sp>
      <p:sp>
        <p:nvSpPr>
          <p:cNvPr id="5" name="">
            <a:extLst xmlns:a="http://schemas.openxmlformats.org/drawingml/2006/main">
              <a:ext uri="{FF2B5EF4-FFF2-40B4-BE49-F238E27FC236}">
                <a16:creationId xmlns:a16="http://schemas.microsoft.com/office/drawing/2014/main" id="{7FF490EC-CE7F-4DA5-853C-5452FFE933E0}"/>
              </a:ext>
            </a:extLst>
          </p:cNvPr>
          <p:cNvSpPr>
            <a:spLocks xmlns:a="http://schemas.openxmlformats.org/drawingml/2006/main" noGrp="1"/>
          </p:cNvSpPr>
          <p:nvPr/>
        </p:nvSpPr>
        <p:spPr>
          <a:xfrm xmlns:a="http://schemas.openxmlformats.org/drawingml/2006/main">
            <a:off x="7286625" y="1905000"/>
            <a:ext cx="4191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B4C0D8"/>
                </a:solidFill>
                <a:latin typeface="Arial"/>
                <a:ea typeface="Arial"/>
                <a:cs typeface="Arial"/>
              </a:defRPr>
            </a:defPPr>
          </a:lstStyle>
          <a:p xmlns:a="http://schemas.openxmlformats.org/drawingml/2006/main">
            <a:pPr>
              <a:buNone/>
              <a:defRPr sz="2100" b="0">
                <a:solidFill>
                  <a:srgbClr val="B4C0D8"/>
                </a:solidFill>
                <a:latin typeface="Arial"/>
                <a:ea typeface="Arial"/>
                <a:cs typeface="Arial"/>
              </a:defRPr>
            </a:pPr>
            <a:r>
              <a:rPr sz="2100" b="0">
                <a:solidFill>
                  <a:srgbClr val="B4C0D8"/>
                </a:solidFill>
                <a:latin typeface="Arial"/>
                <a:ea typeface="Arial"/>
                <a:cs typeface="Arial"/>
              </a:rPr>
              <a:t>Smaller failing input</a:t>
            </a:r>
          </a:p>
        </p:txBody>
      </p:sp>
      <p:sp>
        <p:nvSpPr>
          <p:cNvPr id="6" name="">
            <a:extLst xmlns:a="http://schemas.openxmlformats.org/drawingml/2006/main">
              <a:ext uri="{FF2B5EF4-FFF2-40B4-BE49-F238E27FC236}">
                <a16:creationId xmlns:a16="http://schemas.microsoft.com/office/drawing/2014/main" id="{98519EF1-92C4-44D0-8AC5-20EEBD1EC6E7}"/>
              </a:ext>
            </a:extLst>
          </p:cNvPr>
          <p:cNvSpPr>
            <a:spLocks xmlns:a="http://schemas.openxmlformats.org/drawingml/2006/main" noGrp="1"/>
          </p:cNvSpPr>
          <p:nvPr/>
        </p:nvSpPr>
        <p:spPr>
          <a:xfrm xmlns:a="http://schemas.openxmlformats.org/drawingml/2006/main">
            <a:off x="7286625" y="2571750"/>
            <a:ext cx="4095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150" b="1">
                <a:solidFill>
                  <a:srgbClr val="C9F500"/>
                </a:solidFill>
                <a:latin typeface="Arial"/>
                <a:ea typeface="Arial"/>
                <a:cs typeface="Arial"/>
              </a:defRPr>
            </a:defPPr>
          </a:lstStyle>
          <a:p xmlns:a="http://schemas.openxmlformats.org/drawingml/2006/main">
            <a:pPr>
              <a:buNone/>
              <a:defRPr sz="6150" b="1">
                <a:solidFill>
                  <a:srgbClr val="C9F500"/>
                </a:solidFill>
                <a:latin typeface="Arial"/>
                <a:ea typeface="Arial"/>
                <a:cs typeface="Arial"/>
              </a:defRPr>
            </a:pPr>
            <a:r>
              <a:rPr sz="6150" b="1">
                <a:solidFill>
                  <a:srgbClr val="C9F500"/>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1F1C3792-F770-4DE5-8D8D-1C0DEA7A2DF2}"/>
              </a:ext>
            </a:extLst>
          </p:cNvPr>
          <p:cNvSpPr>
            <a:spLocks xmlns:a="http://schemas.openxmlformats.org/drawingml/2006/main" noGrp="1"/>
          </p:cNvSpPr>
          <p:nvPr/>
        </p:nvSpPr>
        <p:spPr>
          <a:xfrm xmlns:a="http://schemas.openxmlformats.org/drawingml/2006/main">
            <a:off x="647700" y="42100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F5F7FF"/>
                </a:solidFill>
                <a:latin typeface="Arial"/>
                <a:ea typeface="Arial"/>
                <a:cs typeface="Arial"/>
              </a:defRPr>
            </a:defPPr>
          </a:lstStyle>
          <a:p xmlns:a="http://schemas.openxmlformats.org/drawingml/2006/main">
            <a:pPr>
              <a:buNone/>
              <a:defRPr sz="2850" b="1">
                <a:solidFill>
                  <a:srgbClr val="F5F7FF"/>
                </a:solidFill>
                <a:latin typeface="Arial"/>
                <a:ea typeface="Arial"/>
                <a:cs typeface="Arial"/>
              </a:defRPr>
            </a:pPr>
            <a:r>
              <a:rPr sz="2850" b="1">
                <a:solidFill>
                  <a:srgbClr val="F5F7FF"/>
                </a:solidFill>
                <a:latin typeface="Arial"/>
                <a:ea typeface="Arial"/>
                <a:cs typeface="Arial"/>
              </a:rPr>
              <a:t>Expected: -2     Buggy output: 0</a:t>
            </a:r>
          </a:p>
        </p:txBody>
      </p:sp>
      <p:sp>
        <p:nvSpPr>
          <p:cNvPr id="8" name="">
            <a:extLst xmlns:a="http://schemas.openxmlformats.org/drawingml/2006/main">
              <a:ext uri="{FF2B5EF4-FFF2-40B4-BE49-F238E27FC236}">
                <a16:creationId xmlns:a16="http://schemas.microsoft.com/office/drawing/2014/main" id="{0D4EFE1F-EE7A-48AA-9044-AD3C3E37FC88}"/>
              </a:ext>
            </a:extLst>
          </p:cNvPr>
          <p:cNvSpPr>
            <a:spLocks xmlns:a="http://schemas.openxmlformats.org/drawingml/2006/main" noGrp="1"/>
          </p:cNvSpPr>
          <p:nvPr/>
        </p:nvSpPr>
        <p:spPr>
          <a:xfrm xmlns:a="http://schemas.openxmlformats.org/drawingml/2006/main">
            <a:off x="647700" y="51339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B4C0D8"/>
                </a:solidFill>
                <a:latin typeface="Arial"/>
                <a:ea typeface="Arial"/>
                <a:cs typeface="Arial"/>
              </a:defRPr>
            </a:defPPr>
          </a:lstStyle>
          <a:p xmlns:a="http://schemas.openxmlformats.org/drawingml/2006/main">
            <a:pPr>
              <a:buNone/>
              <a:defRPr sz="2100" b="0">
                <a:solidFill>
                  <a:srgbClr val="B4C0D8"/>
                </a:solidFill>
                <a:latin typeface="Arial"/>
                <a:ea typeface="Arial"/>
                <a:cs typeface="Arial"/>
              </a:defRPr>
            </a:pPr>
            <a:r>
              <a:rPr sz="2100" b="0">
                <a:solidFill>
                  <a:srgbClr val="B4C0D8"/>
                </a:solidFill>
                <a:latin typeface="Arial"/>
                <a:ea typeface="Arial"/>
                <a:cs typeface="Arial"/>
              </a:rPr>
              <a:t>The code ignores negatives. One number exposes the mistake.</a:t>
            </a:r>
          </a:p>
        </p:txBody>
      </p:sp>
      <p:sp>
        <p:nvSpPr>
          <p:cNvPr id="9" name="">
            <a:extLst xmlns:a="http://schemas.openxmlformats.org/drawingml/2006/main">
              <a:ext uri="{FF2B5EF4-FFF2-40B4-BE49-F238E27FC236}">
                <a16:creationId xmlns:a16="http://schemas.microsoft.com/office/drawing/2014/main" id="{916FFE72-B111-439F-A8B4-C70CD25B5F3F}"/>
              </a:ext>
            </a:extLst>
          </p:cNvPr>
          <p:cNvSpPr>
            <a:spLocks xmlns:a="http://schemas.openxmlformats.org/drawingml/2006/main" noGrp="1"/>
          </p:cNvSpPr>
          <p:nvPr/>
        </p:nvSpPr>
        <p:spPr>
          <a:xfrm xmlns:a="http://schemas.openxmlformats.org/drawingml/2006/main">
            <a:off x="647700" y="607695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B4C0D8"/>
                </a:solidFill>
                <a:latin typeface="Arial"/>
                <a:ea typeface="Arial"/>
                <a:cs typeface="Arial"/>
              </a:defRPr>
            </a:defPPr>
          </a:lstStyle>
          <a:p xmlns:a="http://schemas.openxmlformats.org/drawingml/2006/main">
            <a:pPr>
              <a:buNone/>
              <a:defRPr sz="1425" b="0">
                <a:solidFill>
                  <a:srgbClr val="B4C0D8"/>
                </a:solidFill>
                <a:latin typeface="Arial"/>
                <a:ea typeface="Arial"/>
                <a:cs typeface="Arial"/>
              </a:defRPr>
            </a:pPr>
            <a:r>
              <a:rPr sz="1425" b="0">
                <a:solidFill>
                  <a:srgbClr val="B4C0D8"/>
                </a:solidFill>
                <a:latin typeface="Arial"/>
                <a:ea typeface="Arial"/>
                <a:cs typeface="Arial"/>
              </a:rPr>
              <a:t>Illustration. Best reduction within a budget, not guaranteed smallest.</a:t>
            </a:r>
          </a:p>
        </p:txBody>
      </p:sp>
    </p:spTree>
    <p:extLst>
      <p:ext uri="{BB962C8B-B14F-4D97-AF65-F5344CB8AC3E}">
        <p14:creationId xmlns:p14="http://schemas.microsoft.com/office/powerpoint/2010/main" val="1230966849"/>
      </p:ext>
    </p:extLst>
  </p:cSld>
</p:sld>
</file>

<file path=ppt/slides/slide4.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A460C1-44E1-4E75-BFB2-21B295FF1CBD}"/>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buNone/>
              <a:defRPr sz="3600" b="1">
                <a:solidFill>
                  <a:srgbClr val="F5F7FF"/>
                </a:solidFill>
                <a:latin typeface="Arial"/>
                <a:ea typeface="Arial"/>
                <a:cs typeface="Arial"/>
              </a:defRPr>
            </a:pPr>
            <a:r>
              <a:rPr sz="3600" b="1">
                <a:solidFill>
                  <a:srgbClr val="F5F7FF"/>
                </a:solidFill>
                <a:latin typeface="Arial"/>
                <a:ea typeface="Arial"/>
                <a:cs typeface="Arial"/>
              </a:rPr>
              <a:t>The sandbox runs code separately</a:t>
            </a:r>
          </a:p>
        </p:txBody>
      </p:sp>
      <p:sp>
        <p:nvSpPr>
          <p:cNvPr id="2" name="">
            <a:extLst xmlns:a="http://schemas.openxmlformats.org/drawingml/2006/main">
              <a:ext uri="{FF2B5EF4-FFF2-40B4-BE49-F238E27FC236}">
                <a16:creationId xmlns:a16="http://schemas.microsoft.com/office/drawing/2014/main" id="{C61EBCBA-5FEB-41EB-A5E6-065133A8E39C}"/>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buNone/>
              <a:defRPr sz="1350" b="0">
                <a:solidFill>
                  <a:srgbClr val="B4C0D8"/>
                </a:solidFill>
                <a:latin typeface="Arial"/>
                <a:ea typeface="Arial"/>
                <a:cs typeface="Arial"/>
              </a:defRPr>
            </a:pPr>
            <a:r>
              <a:rPr sz="1350" b="0">
                <a:solidFill>
                  <a:srgbClr val="B4C0D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CC191858-F380-444A-8780-D88372BF4F81}"/>
              </a:ext>
            </a:extLst>
          </p:cNvPr>
          <p:cNvSpPr>
            <a:spLocks xmlns:a="http://schemas.openxmlformats.org/drawingml/2006/main" noGrp="1"/>
          </p:cNvSpPr>
          <p:nvPr/>
        </p:nvSpPr>
        <p:spPr>
          <a:xfrm xmlns:a="http://schemas.openxmlformats.org/drawingml/2006/main">
            <a:off x="647700" y="18097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925" b="1">
                <a:solidFill>
                  <a:srgbClr val="C9F500"/>
                </a:solidFill>
                <a:latin typeface="Arial"/>
                <a:ea typeface="Arial"/>
                <a:cs typeface="Arial"/>
              </a:defRPr>
            </a:defPPr>
          </a:lstStyle>
          <a:p xmlns:a="http://schemas.openxmlformats.org/drawingml/2006/main">
            <a:pPr>
              <a:buNone/>
              <a:defRPr sz="2925" b="1">
                <a:solidFill>
                  <a:srgbClr val="C9F500"/>
                </a:solidFill>
                <a:latin typeface="Arial"/>
                <a:ea typeface="Arial"/>
                <a:cs typeface="Arial"/>
              </a:defRPr>
            </a:pPr>
            <a:r>
              <a:rPr sz="2925" b="1">
                <a:solidFill>
                  <a:srgbClr val="C9F500"/>
                </a:solidFill>
                <a:latin typeface="Arial"/>
                <a:ea typeface="Arial"/>
                <a:cs typeface="Arial"/>
              </a:rPr>
              <a:t>A separate place to run submitted Python</a:t>
            </a:r>
          </a:p>
        </p:txBody>
      </p:sp>
      <p:sp>
        <p:nvSpPr>
          <p:cNvPr id="4" name="">
            <a:extLst xmlns:a="http://schemas.openxmlformats.org/drawingml/2006/main">
              <a:ext uri="{FF2B5EF4-FFF2-40B4-BE49-F238E27FC236}">
                <a16:creationId xmlns:a16="http://schemas.microsoft.com/office/drawing/2014/main" id="{40C0E697-3334-47B1-83BF-B8915875E3FD}"/>
              </a:ext>
            </a:extLst>
          </p:cNvPr>
          <p:cNvSpPr>
            <a:spLocks xmlns:a="http://schemas.openxmlformats.org/drawingml/2006/main" noGrp="1"/>
          </p:cNvSpPr>
          <p:nvPr/>
        </p:nvSpPr>
        <p:spPr>
          <a:xfrm xmlns:a="http://schemas.openxmlformats.org/drawingml/2006/main">
            <a:off x="647700" y="2933700"/>
            <a:ext cx="108585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5F7FF"/>
                </a:solidFill>
                <a:latin typeface="Arial"/>
                <a:ea typeface="Arial"/>
                <a:cs typeface="Arial"/>
              </a:defRPr>
            </a:defPPr>
          </a:lstStyle>
          <a:p xmlns:a="http://schemas.openxmlformats.org/drawingml/2006/main">
            <a:pPr>
              <a:buNone/>
              <a:defRPr sz="2400" b="0">
                <a:solidFill>
                  <a:srgbClr val="F5F7FF"/>
                </a:solidFill>
                <a:latin typeface="Arial"/>
                <a:ea typeface="Arial"/>
                <a:cs typeface="Arial"/>
              </a:defRPr>
            </a:pPr>
            <a:r>
              <a:rPr sz="2400" b="0">
                <a:solidFill>
                  <a:srgbClr val="F5F7FF"/>
                </a:solidFill>
                <a:latin typeface="Arial"/>
                <a:ea typeface="Arial"/>
                <a:cs typeface="Arial"/>
              </a:rPr>
              <a:t>Runs your code and proposed fixes</a:t>
            </a:r>
          </a:p>
          <a:p xmlns:a="http://schemas.openxmlformats.org/drawingml/2006/main">
            <a:pPr>
              <a:buNone/>
              <a:defRPr sz="2400" b="0">
                <a:solidFill>
                  <a:srgbClr val="F5F7FF"/>
                </a:solidFill>
                <a:latin typeface="Arial"/>
                <a:ea typeface="Arial"/>
                <a:cs typeface="Arial"/>
              </a:defRPr>
            </a:pPr>
            <a:r>
              <a:rPr sz="2400" b="0">
                <a:solidFill>
                  <a:srgbClr val="F5F7FF"/>
                </a:solidFill>
                <a:latin typeface="Arial"/>
                <a:ea typeface="Arial"/>
                <a:cs typeface="Arial"/>
              </a:rPr>
              <a:t>Captures output and errors</a:t>
            </a:r>
          </a:p>
          <a:p xmlns:a="http://schemas.openxmlformats.org/drawingml/2006/main">
            <a:pPr>
              <a:buNone/>
              <a:defRPr sz="2400" b="0">
                <a:solidFill>
                  <a:srgbClr val="F5F7FF"/>
                </a:solidFill>
                <a:latin typeface="Arial"/>
                <a:ea typeface="Arial"/>
                <a:cs typeface="Arial"/>
              </a:defRPr>
            </a:pPr>
            <a:r>
              <a:rPr sz="2400" b="0">
                <a:solidFill>
                  <a:srgbClr val="F5F7FF"/>
                </a:solidFill>
                <a:latin typeface="Arial"/>
                <a:ea typeface="Arial"/>
                <a:cs typeface="Arial"/>
              </a:rPr>
              <a:t>Stops code that takes too long</a:t>
            </a:r>
          </a:p>
          <a:p xmlns:a="http://schemas.openxmlformats.org/drawingml/2006/main">
            <a:pPr>
              <a:buNone/>
              <a:defRPr sz="2400" b="0">
                <a:solidFill>
                  <a:srgbClr val="F5F7FF"/>
                </a:solidFill>
                <a:latin typeface="Arial"/>
                <a:ea typeface="Arial"/>
                <a:cs typeface="Arial"/>
              </a:defRPr>
            </a:pPr>
            <a:r>
              <a:rPr sz="2400" b="0">
                <a:solidFill>
                  <a:srgbClr val="F5F7FF"/>
                </a:solidFill>
                <a:latin typeface="Arial"/>
                <a:ea typeface="Arial"/>
                <a:cs typeface="Arial"/>
              </a:rPr>
              <a:t>Keeps execution away from the main website</a:t>
            </a:r>
          </a:p>
        </p:txBody>
      </p:sp>
      <p:sp>
        <p:nvSpPr>
          <p:cNvPr id="5" name="">
            <a:extLst xmlns:a="http://schemas.openxmlformats.org/drawingml/2006/main">
              <a:ext uri="{FF2B5EF4-FFF2-40B4-BE49-F238E27FC236}">
                <a16:creationId xmlns:a16="http://schemas.microsoft.com/office/drawing/2014/main" id="{BF6D32AD-6252-4B96-B925-D1B158537E81}"/>
              </a:ext>
            </a:extLst>
          </p:cNvPr>
          <p:cNvSpPr>
            <a:spLocks xmlns:a="http://schemas.openxmlformats.org/drawingml/2006/main" noGrp="1"/>
          </p:cNvSpPr>
          <p:nvPr/>
        </p:nvSpPr>
        <p:spPr>
          <a:xfrm xmlns:a="http://schemas.openxmlformats.org/drawingml/2006/main">
            <a:off x="647700" y="56388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4C0D8"/>
                </a:solidFill>
                <a:latin typeface="Arial"/>
                <a:ea typeface="Arial"/>
                <a:cs typeface="Arial"/>
              </a:defRPr>
            </a:defPPr>
          </a:lstStyle>
          <a:p xmlns:a="http://schemas.openxmlformats.org/drawingml/2006/main">
            <a:pPr>
              <a:buNone/>
              <a:defRPr sz="2025" b="0">
                <a:solidFill>
                  <a:srgbClr val="B4C0D8"/>
                </a:solidFill>
                <a:latin typeface="Arial"/>
                <a:ea typeface="Arial"/>
                <a:cs typeface="Arial"/>
              </a:defRPr>
            </a:pPr>
            <a:r>
              <a:rPr sz="2025" b="0">
                <a:solidFill>
                  <a:srgbClr val="B4C0D8"/>
                </a:solidFill>
                <a:latin typeface="Arial"/>
                <a:ea typeface="Arial"/>
                <a:cs typeface="Arial"/>
              </a:rPr>
              <a:t>E2B runs code. The checker compares answers.</a:t>
            </a:r>
          </a:p>
        </p:txBody>
      </p:sp>
    </p:spTree>
    <p:extLst>
      <p:ext uri="{BB962C8B-B14F-4D97-AF65-F5344CB8AC3E}">
        <p14:creationId xmlns:p14="http://schemas.microsoft.com/office/powerpoint/2010/main" val="1414973391"/>
      </p:ext>
    </p:extLst>
  </p:cSld>
</p:sld>
</file>

<file path=ppt/slides/slide5.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ED03FD-8265-4EA6-BA44-546654F42810}"/>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buNone/>
              <a:defRPr sz="3600" b="1">
                <a:solidFill>
                  <a:srgbClr val="F5F7FF"/>
                </a:solidFill>
                <a:latin typeface="Arial"/>
                <a:ea typeface="Arial"/>
                <a:cs typeface="Arial"/>
              </a:defRPr>
            </a:pPr>
            <a:r>
              <a:rPr sz="3600" b="1">
                <a:solidFill>
                  <a:srgbClr val="F5F7FF"/>
                </a:solidFill>
                <a:latin typeface="Arial"/>
                <a:ea typeface="Arial"/>
                <a:cs typeface="Arial"/>
              </a:rPr>
              <a:t>AI suggests a fix and the runner checks it</a:t>
            </a:r>
          </a:p>
        </p:txBody>
      </p:sp>
      <p:sp>
        <p:nvSpPr>
          <p:cNvPr id="2" name="">
            <a:extLst xmlns:a="http://schemas.openxmlformats.org/drawingml/2006/main">
              <a:ext uri="{FF2B5EF4-FFF2-40B4-BE49-F238E27FC236}">
                <a16:creationId xmlns:a16="http://schemas.microsoft.com/office/drawing/2014/main" id="{9B5A9DF6-6721-4B02-A96B-4CF4880358F5}"/>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buNone/>
              <a:defRPr sz="1350" b="0">
                <a:solidFill>
                  <a:srgbClr val="B4C0D8"/>
                </a:solidFill>
                <a:latin typeface="Arial"/>
                <a:ea typeface="Arial"/>
                <a:cs typeface="Arial"/>
              </a:defRPr>
            </a:pPr>
            <a:r>
              <a:rPr sz="1350" b="0">
                <a:solidFill>
                  <a:srgbClr val="B4C0D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053C706D-1B05-4C86-8154-2B742DEE0C30}"/>
              </a:ext>
            </a:extLst>
          </p:cNvPr>
          <p:cNvSpPr>
            <a:spLocks xmlns:a="http://schemas.openxmlformats.org/drawingml/2006/main" noGrp="1"/>
          </p:cNvSpPr>
          <p:nvPr/>
        </p:nvSpPr>
        <p:spPr>
          <a:xfrm xmlns:a="http://schemas.openxmlformats.org/drawingml/2006/main">
            <a:off x="647700" y="16859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B4C0D8"/>
                </a:solidFill>
                <a:latin typeface="Arial"/>
                <a:ea typeface="Arial"/>
                <a:cs typeface="Arial"/>
              </a:defRPr>
            </a:defPPr>
          </a:lstStyle>
          <a:p xmlns:a="http://schemas.openxmlformats.org/drawingml/2006/main">
            <a:pPr>
              <a:buNone/>
              <a:defRPr sz="2025" b="0">
                <a:solidFill>
                  <a:srgbClr val="B4C0D8"/>
                </a:solidFill>
                <a:latin typeface="Arial"/>
                <a:ea typeface="Arial"/>
                <a:cs typeface="Arial"/>
              </a:defRPr>
            </a:pPr>
            <a:r>
              <a:rPr sz="2025" b="0">
                <a:solidFill>
                  <a:srgbClr val="B4C0D8"/>
                </a:solidFill>
                <a:latin typeface="Arial"/>
                <a:ea typeface="Arial"/>
                <a:cs typeface="Arial"/>
              </a:rPr>
              <a:t>Example change</a:t>
            </a:r>
          </a:p>
        </p:txBody>
      </p:sp>
      <p:sp>
        <p:nvSpPr>
          <p:cNvPr id="4" name="">
            <a:extLst xmlns:a="http://schemas.openxmlformats.org/drawingml/2006/main">
              <a:ext uri="{FF2B5EF4-FFF2-40B4-BE49-F238E27FC236}">
                <a16:creationId xmlns:a16="http://schemas.microsoft.com/office/drawing/2014/main" id="{D7980666-7283-4D20-9DB3-527E7CD72B6A}"/>
              </a:ext>
            </a:extLst>
          </p:cNvPr>
          <p:cNvSpPr>
            <a:spLocks xmlns:a="http://schemas.openxmlformats.org/drawingml/2006/main" noGrp="1"/>
          </p:cNvSpPr>
          <p:nvPr/>
        </p:nvSpPr>
        <p:spPr>
          <a:xfrm xmlns:a="http://schemas.openxmlformats.org/drawingml/2006/main">
            <a:off x="647700" y="22860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0">
                <a:solidFill>
                  <a:srgbClr val="FF8E98"/>
                </a:solidFill>
                <a:latin typeface="Arial"/>
                <a:ea typeface="Arial"/>
                <a:cs typeface="Arial"/>
              </a:defRPr>
            </a:defPPr>
          </a:lstStyle>
          <a:p xmlns:a="http://schemas.openxmlformats.org/drawingml/2006/main">
            <a:pPr>
              <a:buNone/>
              <a:defRPr sz="2775" b="0">
                <a:solidFill>
                  <a:srgbClr val="FF8E98"/>
                </a:solidFill>
                <a:latin typeface="Arial"/>
                <a:ea typeface="Arial"/>
                <a:cs typeface="Arial"/>
              </a:defRPr>
            </a:pPr>
            <a:r>
              <a:rPr sz="2775" b="0">
                <a:solidFill>
                  <a:srgbClr val="FF8E98"/>
                </a:solidFill>
                <a:latin typeface="Arial"/>
                <a:ea typeface="Arial"/>
                <a:cs typeface="Arial"/>
              </a:rPr>
              <a:t>total += max(value, 0)</a:t>
            </a:r>
          </a:p>
        </p:txBody>
      </p:sp>
      <p:sp>
        <p:nvSpPr>
          <p:cNvPr id="5" name="">
            <a:extLst xmlns:a="http://schemas.openxmlformats.org/drawingml/2006/main">
              <a:ext uri="{FF2B5EF4-FFF2-40B4-BE49-F238E27FC236}">
                <a16:creationId xmlns:a16="http://schemas.microsoft.com/office/drawing/2014/main" id="{7FAF7870-2D68-47D4-9D8C-FD70C9ECCAC3}"/>
              </a:ext>
            </a:extLst>
          </p:cNvPr>
          <p:cNvSpPr>
            <a:spLocks xmlns:a="http://schemas.openxmlformats.org/drawingml/2006/main" noGrp="1"/>
          </p:cNvSpPr>
          <p:nvPr/>
        </p:nvSpPr>
        <p:spPr>
          <a:xfrm xmlns:a="http://schemas.openxmlformats.org/drawingml/2006/main">
            <a:off x="647700" y="300037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C9F500"/>
                </a:solidFill>
                <a:latin typeface="Arial"/>
                <a:ea typeface="Arial"/>
                <a:cs typeface="Arial"/>
              </a:defRPr>
            </a:defPPr>
          </a:lstStyle>
          <a:p xmlns:a="http://schemas.openxmlformats.org/drawingml/2006/main">
            <a:pPr>
              <a:buNone/>
              <a:defRPr sz="3150" b="1">
                <a:solidFill>
                  <a:srgbClr val="C9F500"/>
                </a:solidFill>
                <a:latin typeface="Arial"/>
                <a:ea typeface="Arial"/>
                <a:cs typeface="Arial"/>
              </a:defRPr>
            </a:pPr>
            <a:r>
              <a:rPr sz="3150" b="1">
                <a:solidFill>
                  <a:srgbClr val="C9F500"/>
                </a:solidFill>
                <a:latin typeface="Arial"/>
                <a:ea typeface="Arial"/>
                <a:cs typeface="Arial"/>
              </a:rPr>
              <a:t>total += value</a:t>
            </a:r>
          </a:p>
        </p:txBody>
      </p:sp>
      <p:pic>
        <p:nvPicPr>
          <p:cNvPr id="6" name="">
            <a:extLst xmlns:a="http://schemas.openxmlformats.org/drawingml/2006/main">
              <a:ext uri="{FF2B5EF4-FFF2-40B4-BE49-F238E27FC236}">
                <a16:creationId xmlns:a16="http://schemas.microsoft.com/office/drawing/2014/main" id="{285D8006-7DFF-4602-B64B-3DA4D0080FC8}"/>
              </a:ext>
            </a:extLst>
          </p:cNvPr>
          <p:cNvPicPr>
            <a:picLocks xmlns:a="http://schemas.openxmlformats.org/drawingml/2006/main" noChangeAspect="1"/>
          </p:cNvPicPr>
          <p:nvPr/>
        </p:nvPicPr>
        <p:blipFill>
          <a:blip xmlns:r="http://schemas.openxmlformats.org/officeDocument/2006/relationships" xmlns:a="http://schemas.openxmlformats.org/drawingml/2006/main" r:embed="Re87814d0ad014919"/>
          <a:stretch xmlns:a="http://schemas.openxmlformats.org/drawingml/2006/main"/>
        </p:blipFill>
        <p:spPr>
          <a:xfrm xmlns:a="http://schemas.openxmlformats.org/drawingml/2006/main">
            <a:off x="647700" y="4134427"/>
            <a:ext cx="10858500" cy="91324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B12438D-E546-4B67-9A6C-236151648744}"/>
              </a:ext>
            </a:extLst>
          </p:cNvPr>
          <p:cNvSpPr>
            <a:spLocks xmlns:a="http://schemas.openxmlformats.org/drawingml/2006/main" noGrp="1"/>
          </p:cNvSpPr>
          <p:nvPr/>
        </p:nvSpPr>
        <p:spPr>
          <a:xfrm xmlns:a="http://schemas.openxmlformats.org/drawingml/2006/main">
            <a:off x="647700" y="5410200"/>
            <a:ext cx="10858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0D8"/>
                </a:solidFill>
                <a:latin typeface="Arial"/>
                <a:ea typeface="Arial"/>
                <a:cs typeface="Arial"/>
              </a:defRPr>
            </a:defPPr>
          </a:lstStyle>
          <a:p xmlns:a="http://schemas.openxmlformats.org/drawingml/2006/main">
            <a:pPr>
              <a:buNone/>
              <a:defRPr sz="1875" b="0">
                <a:solidFill>
                  <a:srgbClr val="B4C0D8"/>
                </a:solidFill>
                <a:latin typeface="Arial"/>
                <a:ea typeface="Arial"/>
                <a:cs typeface="Arial"/>
              </a:defRPr>
            </a:pPr>
            <a:r>
              <a:rPr sz="1875" b="0">
                <a:solidFill>
                  <a:srgbClr val="B4C0D8"/>
                </a:solidFill>
                <a:latin typeface="Arial"/>
                <a:ea typeface="Arial"/>
                <a:cs typeface="Arial"/>
              </a:rPr>
              <a:t>Earlier live demo: 5 of 5 supplied tests passed.</a:t>
            </a:r>
          </a:p>
          <a:p xmlns:a="http://schemas.openxmlformats.org/drawingml/2006/main">
            <a:pPr>
              <a:buNone/>
              <a:defRPr sz="1875" b="0">
                <a:solidFill>
                  <a:srgbClr val="B4C0D8"/>
                </a:solidFill>
                <a:latin typeface="Arial"/>
                <a:ea typeface="Arial"/>
                <a:cs typeface="Arial"/>
              </a:defRPr>
            </a:pPr>
            <a:r>
              <a:rPr sz="1875" b="0">
                <a:solidFill>
                  <a:srgbClr val="B4C0D8"/>
                </a:solidFill>
                <a:latin typeface="Arial"/>
                <a:ea typeface="Arial"/>
                <a:cs typeface="Arial"/>
              </a:rPr>
              <a:t>Passing these tests does not prove every input works.</a:t>
            </a:r>
          </a:p>
        </p:txBody>
      </p:sp>
    </p:spTree>
    <p:extLst>
      <p:ext uri="{BB962C8B-B14F-4D97-AF65-F5344CB8AC3E}">
        <p14:creationId xmlns:p14="http://schemas.microsoft.com/office/powerpoint/2010/main" val="1905127328"/>
      </p:ext>
    </p:extLst>
  </p:cSld>
</p:sld>
</file>

<file path=ppt/slides/slide6.xml><?xml version="1.0" encoding="utf-8"?>
<p:sld xmlns:p="http://schemas.openxmlformats.org/presentationml/2006/main">
  <p:cSld>
    <p:bg>
      <p:bgPr>
        <a:solidFill xmlns:a="http://schemas.openxmlformats.org/drawingml/2006/main">
          <a:srgbClr val="080C1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7FA8AF0-05AC-4F28-86F6-384ABF0538DA}"/>
              </a:ext>
            </a:extLst>
          </p:cNvPr>
          <p:cNvSpPr>
            <a:spLocks xmlns:a="http://schemas.openxmlformats.org/drawingml/2006/main" noGrp="1"/>
          </p:cNvSpPr>
          <p:nvPr/>
        </p:nvSpPr>
        <p:spPr>
          <a:xfrm xmlns:a="http://schemas.openxmlformats.org/drawingml/2006/main">
            <a:off x="647700" y="523875"/>
            <a:ext cx="10858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F5F7FF"/>
                </a:solidFill>
                <a:latin typeface="Arial"/>
                <a:ea typeface="Arial"/>
                <a:cs typeface="Arial"/>
              </a:defRPr>
            </a:defPPr>
          </a:lstStyle>
          <a:p xmlns:a="http://schemas.openxmlformats.org/drawingml/2006/main">
            <a:pPr>
              <a:buNone/>
              <a:defRPr sz="3600" b="1">
                <a:solidFill>
                  <a:srgbClr val="F5F7FF"/>
                </a:solidFill>
                <a:latin typeface="Arial"/>
                <a:ea typeface="Arial"/>
                <a:cs typeface="Arial"/>
              </a:defRPr>
            </a:pPr>
            <a:r>
              <a:rPr sz="3600" b="1">
                <a:solidFill>
                  <a:srgbClr val="F5F7FF"/>
                </a:solidFill>
                <a:latin typeface="Arial"/>
                <a:ea typeface="Arial"/>
                <a:cs typeface="Arial"/>
              </a:rPr>
              <a:t>Our value and live demo</a:t>
            </a:r>
          </a:p>
        </p:txBody>
      </p:sp>
      <p:sp>
        <p:nvSpPr>
          <p:cNvPr id="2" name="">
            <a:extLst xmlns:a="http://schemas.openxmlformats.org/drawingml/2006/main">
              <a:ext uri="{FF2B5EF4-FFF2-40B4-BE49-F238E27FC236}">
                <a16:creationId xmlns:a16="http://schemas.microsoft.com/office/drawing/2014/main" id="{B64BCD53-391B-4A36-92AD-46F11251D5D2}"/>
              </a:ext>
            </a:extLst>
          </p:cNvPr>
          <p:cNvSpPr>
            <a:spLocks xmlns:a="http://schemas.openxmlformats.org/drawingml/2006/main" noGrp="1"/>
          </p:cNvSpPr>
          <p:nvPr/>
        </p:nvSpPr>
        <p:spPr>
          <a:xfrm xmlns:a="http://schemas.openxmlformats.org/drawingml/2006/main">
            <a:off x="10953750" y="6334125"/>
            <a:ext cx="590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B4C0D8"/>
                </a:solidFill>
                <a:latin typeface="Arial"/>
                <a:ea typeface="Arial"/>
                <a:cs typeface="Arial"/>
              </a:defRPr>
            </a:defPPr>
          </a:lstStyle>
          <a:p xmlns:a="http://schemas.openxmlformats.org/drawingml/2006/main">
            <a:pPr>
              <a:buNone/>
              <a:defRPr sz="1350" b="0">
                <a:solidFill>
                  <a:srgbClr val="B4C0D8"/>
                </a:solidFill>
                <a:latin typeface="Arial"/>
                <a:ea typeface="Arial"/>
                <a:cs typeface="Arial"/>
              </a:defRPr>
            </a:pPr>
            <a:r>
              <a:rPr sz="1350" b="0">
                <a:solidFill>
                  <a:srgbClr val="B4C0D8"/>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276DBF34-FE52-4D76-9A2C-F0323E615908}"/>
              </a:ext>
            </a:extLst>
          </p:cNvPr>
          <p:cNvGraphicFramePr/>
          <p:nvPr/>
        </p:nvGraphicFramePr>
        <p:xfrm>
          <a:off xmlns:a="http://schemas.openxmlformats.org/drawingml/2006/main" x="647700" y="1685925"/>
          <a:ext xmlns:a="http://schemas.openxmlformats.org/drawingml/2006/main" cx="10858500" cy="3486150"/>
        </p:xfrm>
        <a:graphic xmlns:a="http://schemas.openxmlformats.org/drawingml/2006/main">
          <a:graphicData uri="http://schemas.openxmlformats.org/drawingml/2006/table">
            <a:tbl>
              <a:tblPr/>
              <a:tblGrid>
                <a:gridCol w="2762250"/>
                <a:gridCol w="3857625"/>
                <a:gridCol w="4238625"/>
              </a:tblGrid>
              <a:tr h="628650">
                <a:tc>
                  <a:txBody>
                    <a:bodyPr/>
                    <a:lstStyle/>
                    <a:p>
                      <a:r>
                        <a:rPr sz="1950" b="1">
                          <a:solidFill>
                            <a:srgbClr val="F5F7FF"/>
                          </a:solidFill>
                          <a:latin typeface="Arial"/>
                          <a:ea typeface="Arial"/>
                          <a:cs typeface="Arial"/>
                        </a:rPr>
                        <a:t>Question</a:t>
                      </a:r>
                    </a:p>
                  </a:txBody>
                  <a:tcPr marL="91440" marR="91440" marT="45720" marB="45720">
                    <a:solidFill>
                      <a:srgbClr val="254BCB"/>
                    </a:solidFill>
                  </a:tcPr>
                </a:tc>
                <a:tc>
                  <a:txBody>
                    <a:bodyPr/>
                    <a:lstStyle/>
                    <a:p>
                      <a:r>
                        <a:rPr sz="1950" b="1">
                          <a:solidFill>
                            <a:srgbClr val="F5F7FF"/>
                          </a:solidFill>
                          <a:latin typeface="Arial"/>
                          <a:ea typeface="Arial"/>
                          <a:cs typeface="Arial"/>
                        </a:rPr>
                        <a:t>A text-only AI reply</a:t>
                      </a:r>
                    </a:p>
                  </a:txBody>
                  <a:tcPr marL="91440" marR="91440" marT="45720" marB="45720">
                    <a:solidFill>
                      <a:srgbClr val="254BCB"/>
                    </a:solidFill>
                  </a:tcPr>
                </a:tc>
                <a:tc>
                  <a:txBody>
                    <a:bodyPr/>
                    <a:lstStyle/>
                    <a:p>
                      <a:r>
                        <a:rPr sz="1950" b="1">
                          <a:solidFill>
                            <a:srgbClr val="F5F7FF"/>
                          </a:solidFill>
                          <a:latin typeface="Arial"/>
                          <a:ea typeface="Arial"/>
                          <a:cs typeface="Arial"/>
                        </a:rPr>
                        <a:t>CaseCracker</a:t>
                      </a:r>
                    </a:p>
                  </a:txBody>
                  <a:tcPr marL="91440" marR="91440" marT="45720" marB="45720">
                    <a:solidFill>
                      <a:srgbClr val="254BCB"/>
                    </a:solidFill>
                  </a:tcPr>
                </a:tc>
              </a:tr>
              <a:tr h="714375">
                <a:tc>
                  <a:txBody>
                    <a:bodyPr/>
                    <a:lstStyle/>
                    <a:p>
                      <a:r>
                        <a:rPr sz="1950" b="0">
                          <a:solidFill>
                            <a:srgbClr val="F5F7FF"/>
                          </a:solidFill>
                          <a:latin typeface="Arial"/>
                          <a:ea typeface="Arial"/>
                          <a:cs typeface="Arial"/>
                        </a:rPr>
                        <a:t>What will happen?</a:t>
                      </a:r>
                    </a:p>
                  </a:txBody>
                  <a:tcPr marL="91440" marR="91440" marT="45720" marB="45720">
                    <a:solidFill>
                      <a:srgbClr val="111B2F"/>
                    </a:solidFill>
                  </a:tcPr>
                </a:tc>
                <a:tc>
                  <a:txBody>
                    <a:bodyPr/>
                    <a:lstStyle/>
                    <a:p>
                      <a:r>
                        <a:rPr sz="1950" b="0">
                          <a:solidFill>
                            <a:srgbClr val="F5F7FF"/>
                          </a:solidFill>
                          <a:latin typeface="Arial"/>
                          <a:ea typeface="Arial"/>
                          <a:cs typeface="Arial"/>
                        </a:rPr>
                        <a:t>Predicts the result</a:t>
                      </a:r>
                    </a:p>
                  </a:txBody>
                  <a:tcPr marL="91440" marR="91440" marT="45720" marB="45720">
                    <a:solidFill>
                      <a:srgbClr val="111B2F"/>
                    </a:solidFill>
                  </a:tcPr>
                </a:tc>
                <a:tc>
                  <a:txBody>
                    <a:bodyPr/>
                    <a:lstStyle/>
                    <a:p>
                      <a:r>
                        <a:rPr sz="1950" b="0">
                          <a:solidFill>
                            <a:srgbClr val="F5F7FF"/>
                          </a:solidFill>
                          <a:latin typeface="Arial"/>
                          <a:ea typeface="Arial"/>
                          <a:cs typeface="Arial"/>
                        </a:rPr>
                        <a:t>Runs the code</a:t>
                      </a:r>
                    </a:p>
                  </a:txBody>
                  <a:tcPr marL="91440" marR="91440" marT="45720" marB="45720">
                    <a:solidFill>
                      <a:srgbClr val="111B2F"/>
                    </a:solidFill>
                  </a:tcPr>
                </a:tc>
              </a:tr>
              <a:tr h="714375">
                <a:tc>
                  <a:txBody>
                    <a:bodyPr/>
                    <a:lstStyle/>
                    <a:p>
                      <a:r>
                        <a:rPr sz="1950" b="0">
                          <a:solidFill>
                            <a:srgbClr val="F5F7FF"/>
                          </a:solidFill>
                          <a:latin typeface="Arial"/>
                          <a:ea typeface="Arial"/>
                          <a:cs typeface="Arial"/>
                        </a:rPr>
                        <a:t>Which input fails?</a:t>
                      </a:r>
                    </a:p>
                  </a:txBody>
                  <a:tcPr marL="91440" marR="91440" marT="45720" marB="45720">
                    <a:solidFill>
                      <a:srgbClr val="0C1425"/>
                    </a:solidFill>
                  </a:tcPr>
                </a:tc>
                <a:tc>
                  <a:txBody>
                    <a:bodyPr/>
                    <a:lstStyle/>
                    <a:p>
                      <a:r>
                        <a:rPr sz="1950" b="0">
                          <a:solidFill>
                            <a:srgbClr val="F5F7FF"/>
                          </a:solidFill>
                          <a:latin typeface="Arial"/>
                          <a:ea typeface="Arial"/>
                          <a:cs typeface="Arial"/>
                        </a:rPr>
                        <a:t>Suggests an input</a:t>
                      </a:r>
                    </a:p>
                  </a:txBody>
                  <a:tcPr marL="91440" marR="91440" marT="45720" marB="45720">
                    <a:solidFill>
                      <a:srgbClr val="0C1425"/>
                    </a:solidFill>
                  </a:tcPr>
                </a:tc>
                <a:tc>
                  <a:txBody>
                    <a:bodyPr/>
                    <a:lstStyle/>
                    <a:p>
                      <a:r>
                        <a:rPr sz="1950" b="0">
                          <a:solidFill>
                            <a:srgbClr val="F5F7FF"/>
                          </a:solidFill>
                          <a:latin typeface="Arial"/>
                          <a:ea typeface="Arial"/>
                          <a:cs typeface="Arial"/>
                        </a:rPr>
                        <a:t>Reproduces a failure</a:t>
                      </a:r>
                    </a:p>
                  </a:txBody>
                  <a:tcPr marL="91440" marR="91440" marT="45720" marB="45720">
                    <a:solidFill>
                      <a:srgbClr val="0C1425"/>
                    </a:solidFill>
                  </a:tcPr>
                </a:tc>
              </a:tr>
              <a:tr h="714375">
                <a:tc>
                  <a:txBody>
                    <a:bodyPr/>
                    <a:lstStyle/>
                    <a:p>
                      <a:r>
                        <a:rPr sz="1950" b="0">
                          <a:solidFill>
                            <a:srgbClr val="F5F7FF"/>
                          </a:solidFill>
                          <a:latin typeface="Arial"/>
                          <a:ea typeface="Arial"/>
                          <a:cs typeface="Arial"/>
                        </a:rPr>
                        <a:t>Why did it fail?</a:t>
                      </a:r>
                    </a:p>
                  </a:txBody>
                  <a:tcPr marL="91440" marR="91440" marT="45720" marB="45720">
                    <a:solidFill>
                      <a:srgbClr val="111B2F"/>
                    </a:solidFill>
                  </a:tcPr>
                </a:tc>
                <a:tc>
                  <a:txBody>
                    <a:bodyPr/>
                    <a:lstStyle/>
                    <a:p>
                      <a:r>
                        <a:rPr sz="1950" b="0">
                          <a:solidFill>
                            <a:srgbClr val="F5F7FF"/>
                          </a:solidFill>
                          <a:latin typeface="Arial"/>
                          <a:ea typeface="Arial"/>
                          <a:cs typeface="Arial"/>
                        </a:rPr>
                        <a:t>Explains from the code</a:t>
                      </a:r>
                    </a:p>
                  </a:txBody>
                  <a:tcPr marL="91440" marR="91440" marT="45720" marB="45720">
                    <a:solidFill>
                      <a:srgbClr val="111B2F"/>
                    </a:solidFill>
                  </a:tcPr>
                </a:tc>
                <a:tc>
                  <a:txBody>
                    <a:bodyPr/>
                    <a:lstStyle/>
                    <a:p>
                      <a:r>
                        <a:rPr sz="1950" b="0">
                          <a:solidFill>
                            <a:srgbClr val="F5F7FF"/>
                          </a:solidFill>
                          <a:latin typeface="Arial"/>
                          <a:ea typeface="Arial"/>
                          <a:cs typeface="Arial"/>
                        </a:rPr>
                        <a:t>Also shows recorded states</a:t>
                      </a:r>
                    </a:p>
                  </a:txBody>
                  <a:tcPr marL="91440" marR="91440" marT="45720" marB="45720">
                    <a:solidFill>
                      <a:srgbClr val="111B2F"/>
                    </a:solidFill>
                  </a:tcPr>
                </a:tc>
              </a:tr>
              <a:tr h="714375">
                <a:tc>
                  <a:txBody>
                    <a:bodyPr/>
                    <a:lstStyle/>
                    <a:p>
                      <a:r>
                        <a:rPr sz="1950" b="0">
                          <a:solidFill>
                            <a:srgbClr val="F5F7FF"/>
                          </a:solidFill>
                          <a:latin typeface="Arial"/>
                          <a:ea typeface="Arial"/>
                          <a:cs typeface="Arial"/>
                        </a:rPr>
                        <a:t>Does the fix work?</a:t>
                      </a:r>
                    </a:p>
                  </a:txBody>
                  <a:tcPr marL="91440" marR="91440" marT="45720" marB="45720">
                    <a:solidFill>
                      <a:srgbClr val="0C1425"/>
                    </a:solidFill>
                  </a:tcPr>
                </a:tc>
                <a:tc>
                  <a:txBody>
                    <a:bodyPr/>
                    <a:lstStyle/>
                    <a:p>
                      <a:r>
                        <a:rPr sz="1950" b="0">
                          <a:solidFill>
                            <a:srgbClr val="F5F7FF"/>
                          </a:solidFill>
                          <a:latin typeface="Arial"/>
                          <a:ea typeface="Arial"/>
                          <a:cs typeface="Arial"/>
                        </a:rPr>
                        <a:t>Suggests a change</a:t>
                      </a:r>
                    </a:p>
                  </a:txBody>
                  <a:tcPr marL="91440" marR="91440" marT="45720" marB="45720">
                    <a:solidFill>
                      <a:srgbClr val="0C1425"/>
                    </a:solidFill>
                  </a:tcPr>
                </a:tc>
                <a:tc>
                  <a:txBody>
                    <a:bodyPr/>
                    <a:lstStyle/>
                    <a:p>
                      <a:r>
                        <a:rPr sz="1950" b="0">
                          <a:solidFill>
                            <a:srgbClr val="F5F7FF"/>
                          </a:solidFill>
                          <a:latin typeface="Arial"/>
                          <a:ea typeface="Arial"/>
                          <a:cs typeface="Arial"/>
                        </a:rPr>
                        <a:t>Checks supplied tests</a:t>
                      </a:r>
                    </a:p>
                  </a:txBody>
                  <a:tcPr marL="91440" marR="91440" marT="45720" marB="45720">
                    <a:solidFill>
                      <a:srgbClr val="0C1425"/>
                    </a:solidFill>
                  </a:tcPr>
                </a:tc>
              </a:tr>
            </a:tbl>
          </a:graphicData>
        </a:graphic>
      </p:graphicFrame>
      <p:sp>
        <p:nvSpPr>
          <p:cNvPr id="4" name="">
            <a:extLst xmlns:a="http://schemas.openxmlformats.org/drawingml/2006/main">
              <a:ext uri="{FF2B5EF4-FFF2-40B4-BE49-F238E27FC236}">
                <a16:creationId xmlns:a16="http://schemas.microsoft.com/office/drawing/2014/main" id="{77EEA8AE-BBBB-4282-8539-1E3294A0A690}"/>
              </a:ext>
            </a:extLst>
          </p:cNvPr>
          <p:cNvSpPr>
            <a:spLocks xmlns:a="http://schemas.openxmlformats.org/drawingml/2006/main" noGrp="1"/>
          </p:cNvSpPr>
          <p:nvPr/>
        </p:nvSpPr>
        <p:spPr>
          <a:xfrm xmlns:a="http://schemas.openxmlformats.org/drawingml/2006/main">
            <a:off x="647700" y="54578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B4C0D8"/>
                </a:solidFill>
                <a:latin typeface="Arial"/>
                <a:ea typeface="Arial"/>
                <a:cs typeface="Arial"/>
              </a:defRPr>
            </a:defPPr>
          </a:lstStyle>
          <a:p xmlns:a="http://schemas.openxmlformats.org/drawingml/2006/main">
            <a:pPr>
              <a:buNone/>
              <a:defRPr sz="1875" b="0">
                <a:solidFill>
                  <a:srgbClr val="B4C0D8"/>
                </a:solidFill>
                <a:latin typeface="Arial"/>
                <a:ea typeface="Arial"/>
                <a:cs typeface="Arial"/>
              </a:defRPr>
            </a:pPr>
            <a:r>
              <a:rPr sz="1875" b="0">
                <a:solidFill>
                  <a:srgbClr val="B4C0D8"/>
                </a:solidFill>
                <a:latin typeface="Arial"/>
                <a:ea typeface="Arial"/>
                <a:cs typeface="Arial"/>
              </a:rPr>
              <a:t>Other AI tools can run code too. We combine the debugging steps.</a:t>
            </a:r>
          </a:p>
        </p:txBody>
      </p:sp>
      <p:sp>
        <p:nvSpPr>
          <p:cNvPr id="6" name="">
            <a:extLst xmlns:a="http://schemas.openxmlformats.org/drawingml/2006/main">
              <a:ext uri="{FF2B5EF4-FFF2-40B4-BE49-F238E27FC236}">
                <a16:creationId xmlns:a16="http://schemas.microsoft.com/office/drawing/2014/main" id="{62542535-7CFD-4915-802C-B1ED3E1F14EB}"/>
              </a:ext>
            </a:extLst>
          </p:cNvPr>
          <p:cNvSpPr>
            <a:spLocks xmlns:a="http://schemas.openxmlformats.org/drawingml/2006/main" noGrp="1"/>
          </p:cNvSpPr>
          <p:nvPr/>
        </p:nvSpPr>
        <p:spPr>
          <a:xfrm xmlns:a="http://schemas.openxmlformats.org/drawingml/2006/main">
            <a:off x="647700" y="59055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1">
                <a:solidFill>
                  <a:srgbClr val="C9F500"/>
                </a:solidFill>
                <a:latin typeface="Arial"/>
                <a:ea typeface="Arial"/>
                <a:cs typeface="Arial"/>
              </a:defRPr>
            </a:defPPr>
          </a:lstStyle>
          <a:p xmlns:a="http://schemas.openxmlformats.org/drawingml/2006/main">
            <a:pPr>
              <a:defRPr sz="1875" b="1">
                <a:solidFill>
                  <a:srgbClr val="C9F500"/>
                </a:solidFill>
                <a:latin typeface="Arial"/>
                <a:ea typeface="Arial"/>
                <a:cs typeface="Arial"/>
              </a:defRPr>
            </a:pPr>
            <a:r>
              <a:rPr sz="1875" b="1">
                <a:solidFill>
                  <a:srgbClr val="C9F500"/>
                </a:solidFill>
                <a:latin typeface="Arial"/>
                <a:ea typeface="Arial"/>
                <a:cs typeface="Arial"/>
              </a:rPr>
              <a:t>Live demo: Load execution demo, then Find failing test</a:t>
            </a:r>
          </a:p>
        </p:txBody>
      </p:sp>
    </p:spTree>
    <p:extLst>
      <p:ext uri="{BB962C8B-B14F-4D97-AF65-F5344CB8AC3E}">
        <p14:creationId xmlns:p14="http://schemas.microsoft.com/office/powerpoint/2010/main" val="16708775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2026-10-31T04:24:12.5950000Z</dcterms:created>
  <dcterms:modified xsi:type="dcterms:W3CDTF">2026-10-31T04:24:12.5950000Z</dcterms:modified>
</coreProperties>
</file>