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00af55fc974a80" /><Relationship Type="http://schemas.openxmlformats.org/officeDocument/2006/relationships/extended-properties" Target="/docProps/app.xml" Id="R86267b935c38447d" /><Relationship Type="http://schemas.openxmlformats.org/officeDocument/2006/relationships/officeDocument" Target="/ppt/presentation.xml" Id="R33e92870e6a04658" /></Relationships>
</file>

<file path=ppt/presentation.xml><?xml version="1.0" encoding="utf-8"?>
<p:presentation xmlns:p="http://schemas.openxmlformats.org/presentationml/2006/main">
  <p:sldMasterIdLst>
    <p:sldMasterId xmlns:r="http://schemas.openxmlformats.org/officeDocument/2006/relationships" id="2147483648" r:id="Ra6db308d706644ca"/>
  </p:sldMasterIdLst>
  <p:notesMasterIdLst>
    <p:notesMasterId xmlns:r="http://schemas.openxmlformats.org/officeDocument/2006/relationships" r:id="Re3d8a25800f64bba"/>
  </p:notesMasterIdLst>
  <p:sldIdLst>
    <p:sldId xmlns:r="http://schemas.openxmlformats.org/officeDocument/2006/relationships" id="256" r:id="R7d3cb3bd1edd4279"/>
    <p:sldId xmlns:r="http://schemas.openxmlformats.org/officeDocument/2006/relationships" id="257" r:id="R004abefefc144150"/>
    <p:sldId xmlns:r="http://schemas.openxmlformats.org/officeDocument/2006/relationships" id="258" r:id="Rda873449f585423d"/>
    <p:sldId xmlns:r="http://schemas.openxmlformats.org/officeDocument/2006/relationships" id="259" r:id="Rfc7e1e159076440f"/>
    <p:sldId xmlns:r="http://schemas.openxmlformats.org/officeDocument/2006/relationships" id="260" r:id="Rf0b50cf7f2ca4208"/>
    <p:sldId xmlns:r="http://schemas.openxmlformats.org/officeDocument/2006/relationships" id="261" r:id="R8fb2e00be3524a22"/>
    <p:sldId xmlns:r="http://schemas.openxmlformats.org/officeDocument/2006/relationships" id="262" r:id="Rf56bac0ece8548a5"/>
    <p:sldId xmlns:r="http://schemas.openxmlformats.org/officeDocument/2006/relationships" id="263" r:id="R3f34f777759e4852"/>
    <p:sldId xmlns:r="http://schemas.openxmlformats.org/officeDocument/2006/relationships" id="264" r:id="Re87fb82076c04b0f"/>
    <p:sldId xmlns:r="http://schemas.openxmlformats.org/officeDocument/2006/relationships" id="265" r:id="Rf4f1ededf21642e2"/>
    <p:sldId xmlns:r="http://schemas.openxmlformats.org/officeDocument/2006/relationships" id="266" r:id="R1f71b5b418a741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460caf36054628" /><Relationship Type="http://schemas.openxmlformats.org/officeDocument/2006/relationships/slideMaster" Target="/ppt/slideMasters/slideMaster1.xml" Id="Ra6db308d706644ca" /><Relationship Type="http://schemas.openxmlformats.org/officeDocument/2006/relationships/notesMaster" Target="/ppt/notesMasters/notesMaster1.xml" Id="Re3d8a25800f64bba" /><Relationship Type="http://schemas.openxmlformats.org/officeDocument/2006/relationships/presProps" Target="/ppt/presProps.xml" Id="R3ab0fadbe39c410a" /><Relationship Type="http://schemas.openxmlformats.org/officeDocument/2006/relationships/tableStyles" Target="/ppt/tableStyles.xml" Id="Rb64aa3595ff34715" /><Relationship Type="http://schemas.openxmlformats.org/officeDocument/2006/relationships/slide" Target="/ppt/slides/slide1.xml" Id="R7d3cb3bd1edd4279" /><Relationship Type="http://schemas.openxmlformats.org/officeDocument/2006/relationships/slide" Target="/ppt/slides/slide2.xml" Id="R004abefefc144150" /><Relationship Type="http://schemas.openxmlformats.org/officeDocument/2006/relationships/slide" Target="/ppt/slides/slide3.xml" Id="Rda873449f585423d" /><Relationship Type="http://schemas.openxmlformats.org/officeDocument/2006/relationships/slide" Target="/ppt/slides/slide4.xml" Id="Rfc7e1e159076440f" /><Relationship Type="http://schemas.openxmlformats.org/officeDocument/2006/relationships/slide" Target="/ppt/slides/slide5.xml" Id="Rf0b50cf7f2ca4208" /><Relationship Type="http://schemas.openxmlformats.org/officeDocument/2006/relationships/slide" Target="/ppt/slides/slide6.xml" Id="R8fb2e00be3524a22" /><Relationship Type="http://schemas.openxmlformats.org/officeDocument/2006/relationships/slide" Target="/ppt/slides/slide7.xml" Id="Rf56bac0ece8548a5" /><Relationship Type="http://schemas.openxmlformats.org/officeDocument/2006/relationships/slide" Target="/ppt/slides/slide8.xml" Id="R3f34f777759e4852" /><Relationship Type="http://schemas.openxmlformats.org/officeDocument/2006/relationships/slide" Target="/ppt/slides/slide9.xml" Id="Re87fb82076c04b0f" /><Relationship Type="http://schemas.openxmlformats.org/officeDocument/2006/relationships/slide" Target="/ppt/slides/slide10.xml" Id="Rf4f1ededf21642e2" /><Relationship Type="http://schemas.openxmlformats.org/officeDocument/2006/relationships/slide" Target="/ppt/slides/slide11.xml" Id="R1f71b5b418a741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b1bdf7430542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00cc993896411e" /><Relationship Type="http://schemas.openxmlformats.org/officeDocument/2006/relationships/notesMaster" Target="/ppt/notesMasters/notesMaster1.xml" Id="R2c7f27b6732f45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9a1732e31248cc" /><Relationship Type="http://schemas.openxmlformats.org/officeDocument/2006/relationships/notesMaster" Target="/ppt/notesMasters/notesMaster1.xml" Id="R189b1ce11dd740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1b29f248f34d74" /><Relationship Type="http://schemas.openxmlformats.org/officeDocument/2006/relationships/notesMaster" Target="/ppt/notesMasters/notesMaster1.xml" Id="Rb34cc6ec9a9d43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bc0bec9b794d13" /><Relationship Type="http://schemas.openxmlformats.org/officeDocument/2006/relationships/notesMaster" Target="/ppt/notesMasters/notesMaster1.xml" Id="Rfbc9658147554a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e06586bba34a51" /><Relationship Type="http://schemas.openxmlformats.org/officeDocument/2006/relationships/notesMaster" Target="/ppt/notesMasters/notesMaster1.xml" Id="R19803eb26a6b4e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b657a6ea394524" /><Relationship Type="http://schemas.openxmlformats.org/officeDocument/2006/relationships/notesMaster" Target="/ppt/notesMasters/notesMaster1.xml" Id="Ra9689be4f9a243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35f615e8b14bcf" /><Relationship Type="http://schemas.openxmlformats.org/officeDocument/2006/relationships/notesMaster" Target="/ppt/notesMasters/notesMaster1.xml" Id="R76e1b1c6802745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8b3e04f97d4b5c" /><Relationship Type="http://schemas.openxmlformats.org/officeDocument/2006/relationships/notesMaster" Target="/ppt/notesMasters/notesMaster1.xml" Id="R71414ff02b4f42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4e6957325de4cc4" /><Relationship Type="http://schemas.openxmlformats.org/officeDocument/2006/relationships/notesMaster" Target="/ppt/notesMasters/notesMaster1.xml" Id="R9f759f02583c471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dd7d32d74294fea" /><Relationship Type="http://schemas.openxmlformats.org/officeDocument/2006/relationships/notesMaster" Target="/ppt/notesMasters/notesMaster1.xml" Id="R44c7a1cffbd144a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9ff631e0794b83" /><Relationship Type="http://schemas.openxmlformats.org/officeDocument/2006/relationships/notesMaster" Target="/ppt/notesMasters/notesMaster1.xml" Id="R8ed80d499b3546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built CaseCracker to help people understand why their Python code fails. It runs code, makes failing examples easier to understand, and checks suggested fixes. This is a short walkthrough followed by a live demo.</a:t>
            </a:r>
          </a:p>
          <a:p xmlns:a="http://schemas.openxmlformats.org/drawingml/2006/main">
            <a:r>
              <a:t/>
            </a:r>
          </a:p>
          <a:p xmlns:a="http://schemas.openxmlformats.org/drawingml/2006/main">
            <a:r>
              <a:t>Project sources: /Users/ojasvavardhansharma/Desktop/testproject/docs/CaseCracker_Project_Guide.docx; /Users/ojasvavardhansharma/Desktop/testproject/app.py; /Users/ojasvavardhansharma/Desktop/testproject/casecracker/checker.py; /Users/ojasvavardhansharma/Desktop/testproject/casecracker/ai_helper.py; /Users/ojasvavardhansharma/Desktop/testproject/casecracker/remote_runner.py.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solution can pass normal examples and still fail on a negative number or a small input. Beginners may not know what to test. An AI suggestion is useful, but the user still needs to check whether it works.</a:t>
            </a:r>
          </a:p>
          <a:p xmlns:a="http://schemas.openxmlformats.org/drawingml/2006/main">
            <a:r>
              <a:t/>
            </a:r>
          </a:p>
          <a:p xmlns:a="http://schemas.openxmlformats.org/drawingml/2006/main">
            <a:r>
              <a:t>Project sources: /Users/ojasvavardhansharma/Desktop/testproject/docs/CaseCracker_Project_Guide.docx; /Users/ojasvavardhansharma/Desktop/testproject/app.py; /Users/ojasvavardhansharma/Desktop/testproject/casecracker/checker.py; /Users/ojasvavardhansharma/Desktop/testproject/casecracker/ai_helper.py; /Users/ojasvavardhansharma/Desktop/testproject/casecracker/remote_runner.py.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pastes the problem and Python code. They add tests with known expected answers, or use a reference solution. The sandbox runs the programs. The checker compares outputs and shows the failure. AI features are optional and run when requested.</a:t>
            </a:r>
          </a:p>
          <a:p xmlns:a="http://schemas.openxmlformats.org/drawingml/2006/main">
            <a:r>
              <a:t/>
            </a:r>
          </a:p>
          <a:p xmlns:a="http://schemas.openxmlformats.org/drawingml/2006/main">
            <a:r>
              <a:t>Project sources: /Users/ojasvavardhansharma/Desktop/testproject/docs/CaseCracker_Project_Guide.docx; /Users/ojasvavardhansharma/Desktop/testproject/app.py; /Users/ojasvavardhansharma/Desktop/testproject/casecracker/checker.py; /Users/ojasvavardhansharma/Desktop/testproject/casecracker/ai_helper.py; /Users/ojasvavardhansharma/Desktop/testproject/casecracker/remote_runner.py.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example task is to add all numbers, including negatives. The buggy code ignores negative values. For three values, minus two, zero, and five, the correct answer is three. The buggy program gives five. These numbers illustrate the example and are not a fresh execution report.</a:t>
            </a:r>
          </a:p>
          <a:p xmlns:a="http://schemas.openxmlformats.org/drawingml/2006/main">
            <a:r>
              <a:t/>
            </a:r>
          </a:p>
          <a:p xmlns:a="http://schemas.openxmlformats.org/drawingml/2006/main">
            <a:r>
              <a:t>Project sources: /Users/ojasvavardhansharma/Desktop/testproject/docs/CaseCracker_Project_Guide.docx; /Users/ojasvavardhansharma/Desktop/testproject/app.py; /Users/ojasvavardhansharma/Desktop/testproject/casecracker/checker.py; /Users/ojasvavardhansharma/Desktop/testproject/casecracker/ai_helper.py; /Users/ojasvavardhansharma/Desktop/testproject/casecracker/remote_runner.py.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CaseCracker tries smaller versions of the failing input and runs both programs again. It keeps a smaller version only when the failure remains. One negative number can be enough to show this bug. The search has a short time budget, so we do not claim a globally smallest input.</a:t>
            </a:r>
          </a:p>
          <a:p xmlns:a="http://schemas.openxmlformats.org/drawingml/2006/main">
            <a:r>
              <a:t/>
            </a:r>
          </a:p>
          <a:p xmlns:a="http://schemas.openxmlformats.org/drawingml/2006/main">
            <a:r>
              <a:t>Project sources: /Users/ojasvavardhansharma/Desktop/testproject/docs/CaseCracker_Project_Guide.docx; /Users/ojasvavardhansharma/Desktop/testproject/app.py; /Users/ojasvavardhansharma/Desktop/testproject/casecracker/checker.py; /Users/ojasvavardhansharma/Desktop/testproject/casecracker/ai_helper.py; /Users/ojasvavardhansharma/Desktop/testproject/casecracker/remote_runner.py.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trace records variables during execution. Here total starts at zero in both programs. After reading minus two, the reference total becomes minus two, but the buggy total stays zero. Traces compare compatible execution states. Different algorithms may not align, and a state difference is a clue rather than proof of causality.</a:t>
            </a:r>
          </a:p>
          <a:p xmlns:a="http://schemas.openxmlformats.org/drawingml/2006/main">
            <a:r>
              <a:t/>
            </a:r>
          </a:p>
          <a:p xmlns:a="http://schemas.openxmlformats.org/drawingml/2006/main">
            <a:r>
              <a:t>Project sources: /Users/ojasvavardhansharma/Desktop/testproject/docs/CaseCracker_Project_Guide.docx; /Users/ojasvavardhansharma/Desktop/testproject/app.py; /Users/ojasvavardhansharma/Desktop/testproject/casecracker/checker.py; /Users/ojasvavardhansharma/Desktop/testproject/casecracker/ai_helper.py; /Users/ojasvavardhansharma/Desktop/testproject/casecracker/remote_runner.py.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sandbox is a separate execution environment. It runs student code, reference solutions, and proposed fixes. The hosted runner disables internet access and sets time limits. This helps protect the website from submitted programs. The sandbox executes code. The checker decides whether outputs match expected answers.</a:t>
            </a:r>
          </a:p>
          <a:p xmlns:a="http://schemas.openxmlformats.org/drawingml/2006/main">
            <a:r>
              <a:t/>
            </a:r>
          </a:p>
          <a:p xmlns:a="http://schemas.openxmlformats.org/drawingml/2006/main">
            <a:r>
              <a:t>Project sources: /Users/ojasvavardhansharma/Desktop/testproject/docs/CaseCracker_Project_Guide.docx; /Users/ojasvavardhansharma/Desktop/testproject/app.py; /Users/ojasvavardhansharma/Desktop/testproject/casecracker/checker.py; /Users/ojasvavardhansharma/Desktop/testproject/casecracker/ai_helper.py; /Users/ojasvavardhansharma/Desktop/testproject/casecracker/remote_runner.py.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proposes a minimal code change. CaseCracker runs that proposal against the supplied suite and the reduced failing input. This screenshot comes from an earlier live demo where the patch passed five out of five supplied tests. It is evidence for that run, not a guarantee for every input. Screenshot source: /tmp/casecracker-live-final-results.png.</a:t>
            </a:r>
          </a:p>
          <a:p xmlns:a="http://schemas.openxmlformats.org/drawingml/2006/main">
            <a:r>
              <a:t/>
            </a:r>
          </a:p>
          <a:p xmlns:a="http://schemas.openxmlformats.org/drawingml/2006/main">
            <a:r>
              <a:t>Project sources: /Users/ojasvavardhansharma/Desktop/testproject/docs/CaseCracker_Project_Guide.docx; /Users/ojasvavardhansharma/Desktop/testproject/app.py; /Users/ojasvavardhansharma/Desktop/testproject/casecracker/checker.py; /Users/ojasvavardhansharma/Desktop/testproject/casecracker/ai_helper.py; /Users/ojasvavardhansharma/Desktop/testproject/casecracker/remote_runner.py.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does not have to write the reference solution themselves. AI can create a candidate from the full problem statement. CaseCracker requires known examples with expected outputs and runs the generated solution against them. A failing candidate does not replace the reference. Even a passing candidate can still be wrong on unseen inputs.</a:t>
            </a:r>
          </a:p>
          <a:p xmlns:a="http://schemas.openxmlformats.org/drawingml/2006/main">
            <a:r>
              <a:t/>
            </a:r>
          </a:p>
          <a:p xmlns:a="http://schemas.openxmlformats.org/drawingml/2006/main">
            <a:r>
              <a:t>Project sources: /Users/ojasvavardhansharma/Desktop/testproject/docs/CaseCracker_Project_Guide.docx; /Users/ojasvavardhansharma/Desktop/testproject/app.py; /Users/ojasvavardhansharma/Desktop/testproject/casecracker/checker.py; /Users/ojasvavardhansharma/Desktop/testproject/casecracker/ai_helper.py; /Users/ojasvavardhansharma/Desktop/testproject/casecracker/remote_runner.py.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normal text answer may suggest a test or a fix without executing it. Some AI coding tools do execute code too. We do not claim that execution is unique. Our value is combining reproducible failures, input reduction, trace comparisons, and tested fixes into one focused workflow. All comparisons still depend on reliable expected answers.</a:t>
            </a:r>
          </a:p>
          <a:p xmlns:a="http://schemas.openxmlformats.org/drawingml/2006/main">
            <a:r>
              <a:t/>
            </a:r>
          </a:p>
          <a:p xmlns:a="http://schemas.openxmlformats.org/drawingml/2006/main">
            <a:r>
              <a:t>Project sources: /Users/ojasvavardhansharma/Desktop/testproject/docs/CaseCracker_Project_Guide.docx; /Users/ojasvavardhansharma/Desktop/testproject/app.py; /Users/ojasvavardhansharma/Desktop/testproject/casecracker/checker.py; /Users/ojasvavardhansharma/Desktop/testproject/casecracker/ai_helper.py; /Users/ojasvavardhansharma/Desktop/testproject/casecracker/remote_runner.py.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live demo, open the website before presenting. Use Load execution demo, click Find failing test, show the small failing input and highlighted variable difference, then request a one-line patch if AI and sandbox services are available. Paid provider requests and network availability may affect timing. A prepared screenshot can show the earlier demo result if needed. Source repository: https://github.com/devf8rge-project/CaseCracker.</a:t>
            </a:r>
          </a:p>
          <a:p xmlns:a="http://schemas.openxmlformats.org/drawingml/2006/main">
            <a:r>
              <a:t/>
            </a:r>
          </a:p>
          <a:p xmlns:a="http://schemas.openxmlformats.org/drawingml/2006/main">
            <a:r>
              <a:t>Project sources: /Users/ojasvavardhansharma/Desktop/testproject/docs/CaseCracker_Project_Guide.docx; /Users/ojasvavardhansharma/Desktop/testproject/app.py; /Users/ojasvavardhansharma/Desktop/testproject/casecracker/checker.py; /Users/ojasvavardhansharma/Desktop/testproject/casecracker/ai_helper.py; /Users/ojasvavardhansharma/Desktop/testproject/casecracker/remote_runner.py.</a:t>
            </a:r>
          </a:p>
          <a:p xmlns:a="http://schemas.openxmlformats.org/drawingml/2006/main">
            <a:r>
              <a:t/>
            </a:r>
          </a:p>
          <a:p xmlns:a="http://schemas.openxmlformats.org/drawingml/2006/main">
            <a:r>
              <a:t>Live website: https://casecracker-itcq4tjahosrmwkimbbxjd.streamlit.app/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61ef316c0e4e0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cfd61049f9c4c4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cc44feaf04541f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f3d90f967774c0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45bb300b61483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f55c41f30094b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1B5759-8341-4620-AF5C-699D4D805EF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680D275-8237-4199-B78E-8F4B10C9DB6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8DCC418-62F3-4F76-9E4B-02E82B9A51C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90C320-D84B-48EE-9DF3-F2ED242E05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0E33DF2-2940-4528-B59B-7308265C309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E5890F7-963F-4CA8-91E2-E354125829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8E5E23E-8D58-4646-A56E-54680FCA08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3AC1E29-0753-4E11-9A31-7ABCB8622E0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4A2F37-6CFE-483A-B008-8EFC8EE5FE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6E9A31A-C10F-45A8-BECB-2997199AE7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a164215ace4613" /><Relationship Type="http://schemas.openxmlformats.org/officeDocument/2006/relationships/slideLayout" Target="/ppt/slideLayouts/slideLayout1.xml" Id="R77229ee830c04559" /><Relationship Type="http://schemas.openxmlformats.org/officeDocument/2006/relationships/slideLayout" Target="/ppt/slideLayouts/slideLayout2.xml" Id="Rfd0cf3c96dfd4da2" /><Relationship Type="http://schemas.openxmlformats.org/officeDocument/2006/relationships/slideLayout" Target="/ppt/slideLayouts/slideLayout3.xml" Id="R8df0f5c3fa944e37" /><Relationship Type="http://schemas.openxmlformats.org/officeDocument/2006/relationships/slideLayout" Target="/ppt/slideLayouts/slideLayout4.xml" Id="R058d833f503b4625" /><Relationship Type="http://schemas.openxmlformats.org/officeDocument/2006/relationships/slideLayout" Target="/ppt/slideLayouts/slideLayout5.xml" Id="Rdc00f537fdd04a07" /><Relationship Type="http://schemas.openxmlformats.org/officeDocument/2006/relationships/slideLayout" Target="/ppt/slideLayouts/slideLayout6.xml" Id="R269e9272616f41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229ee830c04559"/>
    <p:sldLayoutId xmlns:r="http://schemas.openxmlformats.org/officeDocument/2006/relationships" id="2147483650" r:id="Rfd0cf3c96dfd4da2"/>
    <p:sldLayoutId xmlns:r="http://schemas.openxmlformats.org/officeDocument/2006/relationships" id="2147483651" r:id="R8df0f5c3fa944e37"/>
    <p:sldLayoutId xmlns:r="http://schemas.openxmlformats.org/officeDocument/2006/relationships" id="2147483652" r:id="R058d833f503b4625"/>
    <p:sldLayoutId xmlns:r="http://schemas.openxmlformats.org/officeDocument/2006/relationships" id="2147483653" r:id="Rdc00f537fdd04a07"/>
    <p:sldLayoutId xmlns:r="http://schemas.openxmlformats.org/officeDocument/2006/relationships" id="2147483654" r:id="R269e9272616f41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798538c156c4302" /><Relationship Type="http://schemas.openxmlformats.org/officeDocument/2006/relationships/image" Target="/ppt/media/image.png" Id="R6e7d2c2f6a7f4fdb" /><Relationship Type="http://schemas.openxmlformats.org/officeDocument/2006/relationships/notesSlide" Target="/ppt/notesSlides/notesSlide1.xml" Id="R6b900f0b9ac443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1324891da9d4af4" /><Relationship Type="http://schemas.openxmlformats.org/officeDocument/2006/relationships/notesSlide" Target="/ppt/notesSlides/notesSlide2.xml" Id="R472b2aaee3094e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96094a19229482b" /><Relationship Type="http://schemas.openxmlformats.org/officeDocument/2006/relationships/notesSlide" Target="/ppt/notesSlides/notesSlide3.xml" Id="Re7fa7a310d924a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73bd1a1f9574f2b" /><Relationship Type="http://schemas.openxmlformats.org/officeDocument/2006/relationships/notesSlide" Target="/ppt/notesSlides/notesSlide4.xml" Id="R9f1915804d1346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e7e02624f014a08" /><Relationship Type="http://schemas.openxmlformats.org/officeDocument/2006/relationships/notesSlide" Target="/ppt/notesSlides/notesSlide5.xml" Id="R92bab9101b3c4b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2f2a17827514ee5" /><Relationship Type="http://schemas.openxmlformats.org/officeDocument/2006/relationships/notesSlide" Target="/ppt/notesSlides/notesSlide6.xml" Id="Rbeaecdd8de0d45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8b3a411e9ee4032" /><Relationship Type="http://schemas.openxmlformats.org/officeDocument/2006/relationships/notesSlide" Target="/ppt/notesSlides/notesSlide7.xml" Id="R0c784e48c2b947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684e1ee82e74da9" /><Relationship Type="http://schemas.openxmlformats.org/officeDocument/2006/relationships/image" Target="/ppt/media/image2.png" Id="Rdd519feb2f824308" /><Relationship Type="http://schemas.openxmlformats.org/officeDocument/2006/relationships/notesSlide" Target="/ppt/notesSlides/notesSlide8.xml" Id="Reb9f4b18d9954a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6d7668bbaed4148" /><Relationship Type="http://schemas.openxmlformats.org/officeDocument/2006/relationships/notesSlide" Target="/ppt/notesSlides/notesSlide9.xml" Id="R74b521da4de147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2823cdf08d44f69" /><Relationship Type="http://schemas.openxmlformats.org/officeDocument/2006/relationships/notesSlide" Target="/ppt/notesSlides/notesSlide10.xml" Id="R71d80356a2334f8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a0401e687694a75" /><Relationship Type="http://schemas.openxmlformats.org/officeDocument/2006/relationships/notesSlide" Target="/ppt/notesSlides/notesSlide11.xml" Id="R5d2ab93fa9964cbd" /></Relationships>
</file>

<file path=ppt/slides/slide1.xml><?xml version="1.0" encoding="utf-8"?>
<p:sld xmlns:p="http://schemas.openxmlformats.org/presentationml/2006/main">
  <p:cSld>
    <p:bg>
      <p:bgPr>
        <a:solidFill xmlns:a="http://schemas.openxmlformats.org/drawingml/2006/main">
          <a:srgbClr val="080C1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D60D82-F503-4476-9F6D-6771CE4B6C93}"/>
              </a:ext>
            </a:extLst>
          </p:cNvPr>
          <p:cNvSpPr>
            <a:spLocks xmlns:a="http://schemas.openxmlformats.org/drawingml/2006/main" noGrp="1"/>
          </p:cNvSpPr>
          <p:nvPr/>
        </p:nvSpPr>
        <p:spPr>
          <a:xfrm xmlns:a="http://schemas.openxmlformats.org/drawingml/2006/main">
            <a:off x="647700" y="52387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1">
                <a:solidFill>
                  <a:srgbClr val="F5F7FF"/>
                </a:solidFill>
                <a:latin typeface="Arial"/>
                <a:ea typeface="Arial"/>
                <a:cs typeface="Arial"/>
              </a:defRPr>
            </a:defPPr>
          </a:lstStyle>
          <a:p xmlns:a="http://schemas.openxmlformats.org/drawingml/2006/main">
            <a:pPr>
              <a:defRPr sz="5400" b="1">
                <a:solidFill>
                  <a:srgbClr val="F5F7FF"/>
                </a:solidFill>
                <a:latin typeface="Arial"/>
                <a:ea typeface="Arial"/>
                <a:cs typeface="Arial"/>
              </a:defRPr>
            </a:pPr>
            <a:r>
              <a:rPr sz="5400" b="1">
                <a:solidFill>
                  <a:srgbClr val="F5F7FF"/>
                </a:solidFill>
                <a:latin typeface="Arial"/>
                <a:ea typeface="Arial"/>
                <a:cs typeface="Arial"/>
              </a:rPr>
              <a:t>CaseCracker</a:t>
            </a:r>
          </a:p>
        </p:txBody>
      </p:sp>
      <p:sp>
        <p:nvSpPr>
          <p:cNvPr id="2" name="">
            <a:extLst xmlns:a="http://schemas.openxmlformats.org/drawingml/2006/main">
              <a:ext uri="{FF2B5EF4-FFF2-40B4-BE49-F238E27FC236}">
                <a16:creationId xmlns:a16="http://schemas.microsoft.com/office/drawing/2014/main" id="{7D9020CC-EE64-4FC0-A8F4-62F3245BAF15}"/>
              </a:ext>
            </a:extLst>
          </p:cNvPr>
          <p:cNvSpPr>
            <a:spLocks xmlns:a="http://schemas.openxmlformats.org/drawingml/2006/main" noGrp="1"/>
          </p:cNvSpPr>
          <p:nvPr/>
        </p:nvSpPr>
        <p:spPr>
          <a:xfrm xmlns:a="http://schemas.openxmlformats.org/drawingml/2006/main">
            <a:off x="10953750" y="6334125"/>
            <a:ext cx="59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4C0D8"/>
                </a:solidFill>
                <a:latin typeface="Arial"/>
                <a:ea typeface="Arial"/>
                <a:cs typeface="Arial"/>
              </a:defRPr>
            </a:defPPr>
          </a:lstStyle>
          <a:p xmlns:a="http://schemas.openxmlformats.org/drawingml/2006/main">
            <a:pPr>
              <a:defRPr sz="1350" b="0">
                <a:solidFill>
                  <a:srgbClr val="B4C0D8"/>
                </a:solidFill>
                <a:latin typeface="Arial"/>
                <a:ea typeface="Arial"/>
                <a:cs typeface="Arial"/>
              </a:defRPr>
            </a:pPr>
            <a:r>
              <a:rPr sz="1350" b="0">
                <a:solidFill>
                  <a:srgbClr val="B4C0D8"/>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E448BF2B-17F9-47AF-ACF1-E0B4133FB32E}"/>
              </a:ext>
            </a:extLst>
          </p:cNvPr>
          <p:cNvSpPr>
            <a:spLocks xmlns:a="http://schemas.openxmlformats.org/drawingml/2006/main" noGrp="1"/>
          </p:cNvSpPr>
          <p:nvPr/>
        </p:nvSpPr>
        <p:spPr>
          <a:xfrm xmlns:a="http://schemas.openxmlformats.org/drawingml/2006/main">
            <a:off x="647700" y="1981200"/>
            <a:ext cx="914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C9F500"/>
                </a:solidFill>
                <a:latin typeface="Arial"/>
                <a:ea typeface="Arial"/>
                <a:cs typeface="Arial"/>
              </a:defRPr>
            </a:defPPr>
          </a:lstStyle>
          <a:p xmlns:a="http://schemas.openxmlformats.org/drawingml/2006/main">
            <a:pPr>
              <a:defRPr sz="3450" b="1">
                <a:solidFill>
                  <a:srgbClr val="C9F500"/>
                </a:solidFill>
                <a:latin typeface="Arial"/>
                <a:ea typeface="Arial"/>
                <a:cs typeface="Arial"/>
              </a:defRPr>
            </a:pPr>
            <a:r>
              <a:rPr sz="3450" b="1">
                <a:solidFill>
                  <a:srgbClr val="C9F500"/>
                </a:solidFill>
                <a:latin typeface="Arial"/>
                <a:ea typeface="Arial"/>
                <a:cs typeface="Arial"/>
              </a:rPr>
              <a:t>A Python debugging website</a:t>
            </a:r>
          </a:p>
        </p:txBody>
      </p:sp>
      <p:sp>
        <p:nvSpPr>
          <p:cNvPr id="4" name="">
            <a:extLst xmlns:a="http://schemas.openxmlformats.org/drawingml/2006/main">
              <a:ext uri="{FF2B5EF4-FFF2-40B4-BE49-F238E27FC236}">
                <a16:creationId xmlns:a16="http://schemas.microsoft.com/office/drawing/2014/main" id="{59DF582B-B73F-4E3E-AA9E-856420CF678D}"/>
              </a:ext>
            </a:extLst>
          </p:cNvPr>
          <p:cNvSpPr>
            <a:spLocks xmlns:a="http://schemas.openxmlformats.org/drawingml/2006/main" noGrp="1"/>
          </p:cNvSpPr>
          <p:nvPr/>
        </p:nvSpPr>
        <p:spPr>
          <a:xfrm xmlns:a="http://schemas.openxmlformats.org/drawingml/2006/main">
            <a:off x="647700" y="3105150"/>
            <a:ext cx="9334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F5F7FF"/>
                </a:solidFill>
                <a:latin typeface="Arial"/>
                <a:ea typeface="Arial"/>
                <a:cs typeface="Arial"/>
              </a:defRPr>
            </a:defPPr>
          </a:lstStyle>
          <a:p xmlns:a="http://schemas.openxmlformats.org/drawingml/2006/main">
            <a:pPr>
              <a:defRPr sz="2700" b="0">
                <a:solidFill>
                  <a:srgbClr val="F5F7FF"/>
                </a:solidFill>
                <a:latin typeface="Arial"/>
                <a:ea typeface="Arial"/>
                <a:cs typeface="Arial"/>
              </a:defRPr>
            </a:pPr>
            <a:r>
              <a:rPr sz="2700" b="0">
                <a:solidFill>
                  <a:srgbClr val="F5F7FF"/>
                </a:solidFill>
                <a:latin typeface="Arial"/>
                <a:ea typeface="Arial"/>
                <a:cs typeface="Arial"/>
              </a:rPr>
              <a:t>Find a failing input.</a:t>
            </a:r>
          </a:p>
          <a:p xmlns:a="http://schemas.openxmlformats.org/drawingml/2006/main">
            <a:pPr>
              <a:defRPr sz="2700" b="0">
                <a:solidFill>
                  <a:srgbClr val="F5F7FF"/>
                </a:solidFill>
                <a:latin typeface="Arial"/>
                <a:ea typeface="Arial"/>
                <a:cs typeface="Arial"/>
              </a:defRPr>
            </a:pPr>
            <a:r>
              <a:rPr sz="2700" b="0">
                <a:solidFill>
                  <a:srgbClr val="F5F7FF"/>
                </a:solidFill>
                <a:latin typeface="Arial"/>
                <a:ea typeface="Arial"/>
                <a:cs typeface="Arial"/>
              </a:rPr>
              <a:t>Understand the mistake.</a:t>
            </a:r>
          </a:p>
          <a:p xmlns:a="http://schemas.openxmlformats.org/drawingml/2006/main">
            <a:pPr>
              <a:defRPr sz="2700" b="0">
                <a:solidFill>
                  <a:srgbClr val="F5F7FF"/>
                </a:solidFill>
                <a:latin typeface="Arial"/>
                <a:ea typeface="Arial"/>
                <a:cs typeface="Arial"/>
              </a:defRPr>
            </a:pPr>
            <a:r>
              <a:rPr sz="2700" b="0">
                <a:solidFill>
                  <a:srgbClr val="F5F7FF"/>
                </a:solidFill>
                <a:latin typeface="Arial"/>
                <a:ea typeface="Arial"/>
                <a:cs typeface="Arial"/>
              </a:rPr>
              <a:t>Check the proposed fix.</a:t>
            </a:r>
          </a:p>
        </p:txBody>
      </p:sp>
      <p:pic>
        <p:nvPicPr>
          <p:cNvPr id="5" name="">
            <a:extLst xmlns:a="http://schemas.openxmlformats.org/drawingml/2006/main">
              <a:ext uri="{FF2B5EF4-FFF2-40B4-BE49-F238E27FC236}">
                <a16:creationId xmlns:a16="http://schemas.microsoft.com/office/drawing/2014/main" id="{4D111B99-70BF-49FF-A126-EE8F7AFF0B94}"/>
              </a:ext>
            </a:extLst>
          </p:cNvPr>
          <p:cNvPicPr>
            <a:picLocks xmlns:a="http://schemas.openxmlformats.org/drawingml/2006/main" noChangeAspect="1"/>
          </p:cNvPicPr>
          <p:nvPr/>
        </p:nvPicPr>
        <p:blipFill>
          <a:blip xmlns:r="http://schemas.openxmlformats.org/officeDocument/2006/relationships" xmlns:a="http://schemas.openxmlformats.org/drawingml/2006/main" r:embed="R6e7d2c2f6a7f4fdb"/>
          <a:stretch xmlns:a="http://schemas.openxmlformats.org/drawingml/2006/main"/>
        </p:blipFill>
        <p:spPr>
          <a:xfrm xmlns:a="http://schemas.openxmlformats.org/drawingml/2006/main">
            <a:off x="9525000" y="2019300"/>
            <a:ext cx="1619250" cy="1619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068671C-2C5E-4277-8C91-F96CB4BC7157}"/>
              </a:ext>
            </a:extLst>
          </p:cNvPr>
          <p:cNvSpPr>
            <a:spLocks xmlns:a="http://schemas.openxmlformats.org/drawingml/2006/main" noGrp="1"/>
          </p:cNvSpPr>
          <p:nvPr/>
        </p:nvSpPr>
        <p:spPr>
          <a:xfrm xmlns:a="http://schemas.openxmlformats.org/drawingml/2006/main">
            <a:off x="647700" y="59055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4C0D8"/>
                </a:solidFill>
                <a:latin typeface="Arial"/>
                <a:ea typeface="Arial"/>
                <a:cs typeface="Arial"/>
              </a:defRPr>
            </a:defPPr>
          </a:lstStyle>
          <a:p xmlns:a="http://schemas.openxmlformats.org/drawingml/2006/main">
            <a:pPr>
              <a:defRPr sz="1650" b="0">
                <a:solidFill>
                  <a:srgbClr val="B4C0D8"/>
                </a:solidFill>
                <a:latin typeface="Arial"/>
                <a:ea typeface="Arial"/>
                <a:cs typeface="Arial"/>
              </a:defRPr>
            </a:pPr>
            <a:r>
              <a:rPr sz="1650" b="0">
                <a:solidFill>
                  <a:srgbClr val="B4C0D8"/>
                </a:solidFill>
                <a:latin typeface="Arial"/>
                <a:ea typeface="Arial"/>
                <a:cs typeface="Arial"/>
              </a:rPr>
              <a:t>Hackathon presentation</a:t>
            </a:r>
          </a:p>
        </p:txBody>
      </p:sp>
    </p:spTree>
    <p:extLst>
      <p:ext uri="{BB962C8B-B14F-4D97-AF65-F5344CB8AC3E}">
        <p14:creationId xmlns:p14="http://schemas.microsoft.com/office/powerpoint/2010/main" val="1900702968"/>
      </p:ext>
    </p:extLst>
  </p:cSld>
</p:sld>
</file>

<file path=ppt/slides/slide2.xml><?xml version="1.0" encoding="utf-8"?>
<p:sld xmlns:p="http://schemas.openxmlformats.org/presentationml/2006/main">
  <p:cSld>
    <p:bg>
      <p:bgPr>
        <a:solidFill xmlns:a="http://schemas.openxmlformats.org/drawingml/2006/main">
          <a:srgbClr val="080C1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64E67F4-8FB3-4F24-8E7D-48CAC25C639C}"/>
              </a:ext>
            </a:extLst>
          </p:cNvPr>
          <p:cNvSpPr>
            <a:spLocks xmlns:a="http://schemas.openxmlformats.org/drawingml/2006/main" noGrp="1"/>
          </p:cNvSpPr>
          <p:nvPr/>
        </p:nvSpPr>
        <p:spPr>
          <a:xfrm xmlns:a="http://schemas.openxmlformats.org/drawingml/2006/main">
            <a:off x="647700" y="52387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5F7FF"/>
                </a:solidFill>
                <a:latin typeface="Arial"/>
                <a:ea typeface="Arial"/>
                <a:cs typeface="Arial"/>
              </a:defRPr>
            </a:defPPr>
          </a:lstStyle>
          <a:p xmlns:a="http://schemas.openxmlformats.org/drawingml/2006/main">
            <a:pPr>
              <a:defRPr sz="3600" b="1">
                <a:solidFill>
                  <a:srgbClr val="F5F7FF"/>
                </a:solidFill>
                <a:latin typeface="Arial"/>
                <a:ea typeface="Arial"/>
                <a:cs typeface="Arial"/>
              </a:defRPr>
            </a:pPr>
            <a:r>
              <a:rPr sz="3600" b="1">
                <a:solidFill>
                  <a:srgbClr val="F5F7FF"/>
                </a:solidFill>
                <a:latin typeface="Arial"/>
                <a:ea typeface="Arial"/>
                <a:cs typeface="Arial"/>
              </a:rPr>
              <a:t>The problem</a:t>
            </a:r>
          </a:p>
        </p:txBody>
      </p:sp>
      <p:sp>
        <p:nvSpPr>
          <p:cNvPr id="2" name="">
            <a:extLst xmlns:a="http://schemas.openxmlformats.org/drawingml/2006/main">
              <a:ext uri="{FF2B5EF4-FFF2-40B4-BE49-F238E27FC236}">
                <a16:creationId xmlns:a16="http://schemas.microsoft.com/office/drawing/2014/main" id="{ECE78FC1-EB86-42D4-8BD3-DE14C032FCB0}"/>
              </a:ext>
            </a:extLst>
          </p:cNvPr>
          <p:cNvSpPr>
            <a:spLocks xmlns:a="http://schemas.openxmlformats.org/drawingml/2006/main" noGrp="1"/>
          </p:cNvSpPr>
          <p:nvPr/>
        </p:nvSpPr>
        <p:spPr>
          <a:xfrm xmlns:a="http://schemas.openxmlformats.org/drawingml/2006/main">
            <a:off x="10953750" y="6334125"/>
            <a:ext cx="59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4C0D8"/>
                </a:solidFill>
                <a:latin typeface="Arial"/>
                <a:ea typeface="Arial"/>
                <a:cs typeface="Arial"/>
              </a:defRPr>
            </a:defPPr>
          </a:lstStyle>
          <a:p xmlns:a="http://schemas.openxmlformats.org/drawingml/2006/main">
            <a:pPr>
              <a:defRPr sz="1350" b="0">
                <a:solidFill>
                  <a:srgbClr val="B4C0D8"/>
                </a:solidFill>
                <a:latin typeface="Arial"/>
                <a:ea typeface="Arial"/>
                <a:cs typeface="Arial"/>
              </a:defRPr>
            </a:pPr>
            <a:r>
              <a:rPr sz="1350" b="0">
                <a:solidFill>
                  <a:srgbClr val="B4C0D8"/>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531E5997-5A3B-46BF-8691-AF469B415EE8}"/>
              </a:ext>
            </a:extLst>
          </p:cNvPr>
          <p:cNvSpPr>
            <a:spLocks xmlns:a="http://schemas.openxmlformats.org/drawingml/2006/main" noGrp="1"/>
          </p:cNvSpPr>
          <p:nvPr/>
        </p:nvSpPr>
        <p:spPr>
          <a:xfrm xmlns:a="http://schemas.openxmlformats.org/drawingml/2006/main">
            <a:off x="647700" y="1981200"/>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C9F500"/>
                </a:solidFill>
                <a:latin typeface="Arial"/>
                <a:ea typeface="Arial"/>
                <a:cs typeface="Arial"/>
              </a:defRPr>
            </a:defPPr>
          </a:lstStyle>
          <a:p xmlns:a="http://schemas.openxmlformats.org/drawingml/2006/main">
            <a:pPr>
              <a:defRPr sz="3600" b="1">
                <a:solidFill>
                  <a:srgbClr val="C9F500"/>
                </a:solidFill>
                <a:latin typeface="Arial"/>
                <a:ea typeface="Arial"/>
                <a:cs typeface="Arial"/>
              </a:defRPr>
            </a:pPr>
            <a:r>
              <a:rPr sz="3600" b="1">
                <a:solidFill>
                  <a:srgbClr val="C9F500"/>
                </a:solidFill>
                <a:latin typeface="Arial"/>
                <a:ea typeface="Arial"/>
                <a:cs typeface="Arial"/>
              </a:rPr>
              <a:t>“My code works on my example.</a:t>
            </a:r>
          </a:p>
          <a:p xmlns:a="http://schemas.openxmlformats.org/drawingml/2006/main">
            <a:pPr>
              <a:defRPr sz="3600" b="1">
                <a:solidFill>
                  <a:srgbClr val="C9F500"/>
                </a:solidFill>
                <a:latin typeface="Arial"/>
                <a:ea typeface="Arial"/>
                <a:cs typeface="Arial"/>
              </a:defRPr>
            </a:pPr>
            <a:r>
              <a:rPr sz="3600" b="1">
                <a:solidFill>
                  <a:srgbClr val="C9F500"/>
                </a:solidFill>
                <a:latin typeface="Arial"/>
                <a:ea typeface="Arial"/>
                <a:cs typeface="Arial"/>
              </a:rPr>
              <a:t>Why does it still fail?”</a:t>
            </a:r>
          </a:p>
        </p:txBody>
      </p:sp>
      <p:sp>
        <p:nvSpPr>
          <p:cNvPr id="4" name="">
            <a:extLst xmlns:a="http://schemas.openxmlformats.org/drawingml/2006/main">
              <a:ext uri="{FF2B5EF4-FFF2-40B4-BE49-F238E27FC236}">
                <a16:creationId xmlns:a16="http://schemas.microsoft.com/office/drawing/2014/main" id="{40E4D843-5627-4377-B0CF-65667E618EDD}"/>
              </a:ext>
            </a:extLst>
          </p:cNvPr>
          <p:cNvSpPr>
            <a:spLocks xmlns:a="http://schemas.openxmlformats.org/drawingml/2006/main" noGrp="1"/>
          </p:cNvSpPr>
          <p:nvPr/>
        </p:nvSpPr>
        <p:spPr>
          <a:xfrm xmlns:a="http://schemas.openxmlformats.org/drawingml/2006/main">
            <a:off x="647700" y="3867150"/>
            <a:ext cx="1047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5F7FF"/>
                </a:solidFill>
                <a:latin typeface="Arial"/>
                <a:ea typeface="Arial"/>
                <a:cs typeface="Arial"/>
              </a:defRPr>
            </a:defPPr>
          </a:lstStyle>
          <a:p xmlns:a="http://schemas.openxmlformats.org/drawingml/2006/main">
            <a:pPr>
              <a:defRPr sz="2400" b="0">
                <a:solidFill>
                  <a:srgbClr val="F5F7FF"/>
                </a:solidFill>
                <a:latin typeface="Arial"/>
                <a:ea typeface="Arial"/>
                <a:cs typeface="Arial"/>
              </a:defRPr>
            </a:pPr>
            <a:r>
              <a:rPr sz="2400" b="0">
                <a:solidFill>
                  <a:srgbClr val="F5F7FF"/>
                </a:solidFill>
                <a:latin typeface="Arial"/>
                <a:ea typeface="Arial"/>
                <a:cs typeface="Arial"/>
              </a:rPr>
              <a:t>Unusual inputs expose mistakes.</a:t>
            </a:r>
          </a:p>
          <a:p xmlns:a="http://schemas.openxmlformats.org/drawingml/2006/main">
            <a:pPr>
              <a:defRPr sz="2400" b="0">
                <a:solidFill>
                  <a:srgbClr val="F5F7FF"/>
                </a:solidFill>
                <a:latin typeface="Arial"/>
                <a:ea typeface="Arial"/>
                <a:cs typeface="Arial"/>
              </a:defRPr>
            </a:pPr>
            <a:r>
              <a:rPr sz="2400" b="0">
                <a:solidFill>
                  <a:srgbClr val="F5F7FF"/>
                </a:solidFill>
                <a:latin typeface="Arial"/>
                <a:ea typeface="Arial"/>
                <a:cs typeface="Arial"/>
              </a:rPr>
              <a:t>Large failing inputs are hard to understand.</a:t>
            </a:r>
          </a:p>
          <a:p xmlns:a="http://schemas.openxmlformats.org/drawingml/2006/main">
            <a:pPr>
              <a:defRPr sz="2400" b="0">
                <a:solidFill>
                  <a:srgbClr val="F5F7FF"/>
                </a:solidFill>
                <a:latin typeface="Arial"/>
                <a:ea typeface="Arial"/>
                <a:cs typeface="Arial"/>
              </a:defRPr>
            </a:pPr>
            <a:r>
              <a:rPr sz="2400" b="0">
                <a:solidFill>
                  <a:srgbClr val="F5F7FF"/>
                </a:solidFill>
                <a:latin typeface="Arial"/>
                <a:ea typeface="Arial"/>
                <a:cs typeface="Arial"/>
              </a:rPr>
              <a:t>A suggested fix still needs testing.</a:t>
            </a:r>
          </a:p>
        </p:txBody>
      </p:sp>
    </p:spTree>
    <p:extLst>
      <p:ext uri="{BB962C8B-B14F-4D97-AF65-F5344CB8AC3E}">
        <p14:creationId xmlns:p14="http://schemas.microsoft.com/office/powerpoint/2010/main" val="416881975"/>
      </p:ext>
    </p:extLst>
  </p:cSld>
</p:sld>
</file>

<file path=ppt/slides/slide3.xml><?xml version="1.0" encoding="utf-8"?>
<p:sld xmlns:p="http://schemas.openxmlformats.org/presentationml/2006/main">
  <p:cSld>
    <p:bg>
      <p:bgPr>
        <a:solidFill xmlns:a="http://schemas.openxmlformats.org/drawingml/2006/main">
          <a:srgbClr val="080C1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419B58D-8EB8-45E4-8BF8-5BA529DF0CB2}"/>
              </a:ext>
            </a:extLst>
          </p:cNvPr>
          <p:cNvSpPr>
            <a:spLocks xmlns:a="http://schemas.openxmlformats.org/drawingml/2006/main" noGrp="1"/>
          </p:cNvSpPr>
          <p:nvPr/>
        </p:nvSpPr>
        <p:spPr>
          <a:xfrm xmlns:a="http://schemas.openxmlformats.org/drawingml/2006/main">
            <a:off x="647700" y="52387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5F7FF"/>
                </a:solidFill>
                <a:latin typeface="Arial"/>
                <a:ea typeface="Arial"/>
                <a:cs typeface="Arial"/>
              </a:defRPr>
            </a:defPPr>
          </a:lstStyle>
          <a:p xmlns:a="http://schemas.openxmlformats.org/drawingml/2006/main">
            <a:pPr>
              <a:defRPr sz="3600" b="1">
                <a:solidFill>
                  <a:srgbClr val="F5F7FF"/>
                </a:solidFill>
                <a:latin typeface="Arial"/>
                <a:ea typeface="Arial"/>
                <a:cs typeface="Arial"/>
              </a:defRPr>
            </a:pPr>
            <a:r>
              <a:rPr sz="3600" b="1">
                <a:solidFill>
                  <a:srgbClr val="F5F7FF"/>
                </a:solidFill>
                <a:latin typeface="Arial"/>
                <a:ea typeface="Arial"/>
                <a:cs typeface="Arial"/>
              </a:rPr>
              <a:t>How CaseCracker works</a:t>
            </a:r>
          </a:p>
        </p:txBody>
      </p:sp>
      <p:sp>
        <p:nvSpPr>
          <p:cNvPr id="2" name="">
            <a:extLst xmlns:a="http://schemas.openxmlformats.org/drawingml/2006/main">
              <a:ext uri="{FF2B5EF4-FFF2-40B4-BE49-F238E27FC236}">
                <a16:creationId xmlns:a16="http://schemas.microsoft.com/office/drawing/2014/main" id="{E45B4FA0-5B77-498C-A6FD-D8273EE286F7}"/>
              </a:ext>
            </a:extLst>
          </p:cNvPr>
          <p:cNvSpPr>
            <a:spLocks xmlns:a="http://schemas.openxmlformats.org/drawingml/2006/main" noGrp="1"/>
          </p:cNvSpPr>
          <p:nvPr/>
        </p:nvSpPr>
        <p:spPr>
          <a:xfrm xmlns:a="http://schemas.openxmlformats.org/drawingml/2006/main">
            <a:off x="10953750" y="6334125"/>
            <a:ext cx="59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4C0D8"/>
                </a:solidFill>
                <a:latin typeface="Arial"/>
                <a:ea typeface="Arial"/>
                <a:cs typeface="Arial"/>
              </a:defRPr>
            </a:defPPr>
          </a:lstStyle>
          <a:p xmlns:a="http://schemas.openxmlformats.org/drawingml/2006/main">
            <a:pPr>
              <a:defRPr sz="1350" b="0">
                <a:solidFill>
                  <a:srgbClr val="B4C0D8"/>
                </a:solidFill>
                <a:latin typeface="Arial"/>
                <a:ea typeface="Arial"/>
                <a:cs typeface="Arial"/>
              </a:defRPr>
            </a:pPr>
            <a:r>
              <a:rPr sz="1350" b="0">
                <a:solidFill>
                  <a:srgbClr val="B4C0D8"/>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2B3772C2-B8DB-4D77-A829-FA5D456E76DD}"/>
              </a:ext>
            </a:extLst>
          </p:cNvPr>
          <p:cNvSpPr>
            <a:spLocks xmlns:a="http://schemas.openxmlformats.org/drawingml/2006/main" noGrp="1"/>
          </p:cNvSpPr>
          <p:nvPr/>
        </p:nvSpPr>
        <p:spPr>
          <a:xfrm xmlns:a="http://schemas.openxmlformats.org/drawingml/2006/main">
            <a:off x="647700" y="169545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C9F500"/>
                </a:solidFill>
                <a:latin typeface="Arial"/>
                <a:ea typeface="Arial"/>
                <a:cs typeface="Arial"/>
              </a:defRPr>
            </a:defPPr>
          </a:lstStyle>
          <a:p xmlns:a="http://schemas.openxmlformats.org/drawingml/2006/main">
            <a:pPr>
              <a:defRPr sz="2700" b="1">
                <a:solidFill>
                  <a:srgbClr val="C9F500"/>
                </a:solidFill>
                <a:latin typeface="Arial"/>
                <a:ea typeface="Arial"/>
                <a:cs typeface="Arial"/>
              </a:defRPr>
            </a:pPr>
            <a:r>
              <a:rPr sz="2700" b="1">
                <a:solidFill>
                  <a:srgbClr val="C9F500"/>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B2D667C1-5403-4F1F-AB1C-FCA98D74350E}"/>
              </a:ext>
            </a:extLst>
          </p:cNvPr>
          <p:cNvSpPr>
            <a:spLocks xmlns:a="http://schemas.openxmlformats.org/drawingml/2006/main" noGrp="1"/>
          </p:cNvSpPr>
          <p:nvPr/>
        </p:nvSpPr>
        <p:spPr>
          <a:xfrm xmlns:a="http://schemas.openxmlformats.org/drawingml/2006/main">
            <a:off x="1619250" y="169545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5F7FF"/>
                </a:solidFill>
                <a:latin typeface="Arial"/>
                <a:ea typeface="Arial"/>
                <a:cs typeface="Arial"/>
              </a:defRPr>
            </a:defPPr>
          </a:lstStyle>
          <a:p xmlns:a="http://schemas.openxmlformats.org/drawingml/2006/main">
            <a:pPr>
              <a:defRPr sz="2400" b="1">
                <a:solidFill>
                  <a:srgbClr val="F5F7FF"/>
                </a:solidFill>
                <a:latin typeface="Arial"/>
                <a:ea typeface="Arial"/>
                <a:cs typeface="Arial"/>
              </a:defRPr>
            </a:pPr>
            <a:r>
              <a:rPr sz="2400" b="1">
                <a:solidFill>
                  <a:srgbClr val="F5F7FF"/>
                </a:solidFill>
                <a:latin typeface="Arial"/>
                <a:ea typeface="Arial"/>
                <a:cs typeface="Arial"/>
              </a:rPr>
              <a:t>Add the problem and code</a:t>
            </a:r>
          </a:p>
        </p:txBody>
      </p:sp>
      <p:sp>
        <p:nvSpPr>
          <p:cNvPr id="5" name="">
            <a:extLst xmlns:a="http://schemas.openxmlformats.org/drawingml/2006/main">
              <a:ext uri="{FF2B5EF4-FFF2-40B4-BE49-F238E27FC236}">
                <a16:creationId xmlns:a16="http://schemas.microsoft.com/office/drawing/2014/main" id="{EEA96BDD-0BB0-4378-9FA9-BFAA5A66FAE0}"/>
              </a:ext>
            </a:extLst>
          </p:cNvPr>
          <p:cNvSpPr>
            <a:spLocks xmlns:a="http://schemas.openxmlformats.org/drawingml/2006/main" noGrp="1"/>
          </p:cNvSpPr>
          <p:nvPr/>
        </p:nvSpPr>
        <p:spPr>
          <a:xfrm xmlns:a="http://schemas.openxmlformats.org/drawingml/2006/main">
            <a:off x="1619250" y="2143125"/>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4C0D8"/>
                </a:solidFill>
                <a:latin typeface="Arial"/>
                <a:ea typeface="Arial"/>
                <a:cs typeface="Arial"/>
              </a:defRPr>
            </a:defPPr>
          </a:lstStyle>
          <a:p xmlns:a="http://schemas.openxmlformats.org/drawingml/2006/main">
            <a:pPr>
              <a:defRPr sz="1875" b="0">
                <a:solidFill>
                  <a:srgbClr val="B4C0D8"/>
                </a:solidFill>
                <a:latin typeface="Arial"/>
                <a:ea typeface="Arial"/>
                <a:cs typeface="Arial"/>
              </a:defRPr>
            </a:pPr>
            <a:r>
              <a:rPr sz="1875" b="0">
                <a:solidFill>
                  <a:srgbClr val="B4C0D8"/>
                </a:solidFill>
                <a:latin typeface="Arial"/>
                <a:ea typeface="Arial"/>
                <a:cs typeface="Arial"/>
              </a:rPr>
              <a:t>Tell CaseCracker what the program should do.</a:t>
            </a:r>
          </a:p>
        </p:txBody>
      </p:sp>
      <p:sp>
        <p:nvSpPr>
          <p:cNvPr id="6" name="">
            <a:extLst xmlns:a="http://schemas.openxmlformats.org/drawingml/2006/main">
              <a:ext uri="{FF2B5EF4-FFF2-40B4-BE49-F238E27FC236}">
                <a16:creationId xmlns:a16="http://schemas.microsoft.com/office/drawing/2014/main" id="{00B00E74-C99B-458D-8B59-706AFB4A6C32}"/>
              </a:ext>
            </a:extLst>
          </p:cNvPr>
          <p:cNvSpPr>
            <a:spLocks xmlns:a="http://schemas.openxmlformats.org/drawingml/2006/main" noGrp="1"/>
          </p:cNvSpPr>
          <p:nvPr/>
        </p:nvSpPr>
        <p:spPr>
          <a:xfrm xmlns:a="http://schemas.openxmlformats.org/drawingml/2006/main">
            <a:off x="647700" y="275272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C9F500"/>
                </a:solidFill>
                <a:latin typeface="Arial"/>
                <a:ea typeface="Arial"/>
                <a:cs typeface="Arial"/>
              </a:defRPr>
            </a:defPPr>
          </a:lstStyle>
          <a:p xmlns:a="http://schemas.openxmlformats.org/drawingml/2006/main">
            <a:pPr>
              <a:defRPr sz="2700" b="1">
                <a:solidFill>
                  <a:srgbClr val="C9F500"/>
                </a:solidFill>
                <a:latin typeface="Arial"/>
                <a:ea typeface="Arial"/>
                <a:cs typeface="Arial"/>
              </a:defRPr>
            </a:pPr>
            <a:r>
              <a:rPr sz="2700" b="1">
                <a:solidFill>
                  <a:srgbClr val="C9F500"/>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8275166C-8E40-4E6D-9F69-BA8B6522FAF6}"/>
              </a:ext>
            </a:extLst>
          </p:cNvPr>
          <p:cNvSpPr>
            <a:spLocks xmlns:a="http://schemas.openxmlformats.org/drawingml/2006/main" noGrp="1"/>
          </p:cNvSpPr>
          <p:nvPr/>
        </p:nvSpPr>
        <p:spPr>
          <a:xfrm xmlns:a="http://schemas.openxmlformats.org/drawingml/2006/main">
            <a:off x="1619250" y="275272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5F7FF"/>
                </a:solidFill>
                <a:latin typeface="Arial"/>
                <a:ea typeface="Arial"/>
                <a:cs typeface="Arial"/>
              </a:defRPr>
            </a:defPPr>
          </a:lstStyle>
          <a:p xmlns:a="http://schemas.openxmlformats.org/drawingml/2006/main">
            <a:pPr>
              <a:defRPr sz="2400" b="1">
                <a:solidFill>
                  <a:srgbClr val="F5F7FF"/>
                </a:solidFill>
                <a:latin typeface="Arial"/>
                <a:ea typeface="Arial"/>
                <a:cs typeface="Arial"/>
              </a:defRPr>
            </a:pPr>
            <a:r>
              <a:rPr sz="2400" b="1">
                <a:solidFill>
                  <a:srgbClr val="F5F7FF"/>
                </a:solidFill>
                <a:latin typeface="Arial"/>
                <a:ea typeface="Arial"/>
                <a:cs typeface="Arial"/>
              </a:rPr>
              <a:t>Run the tests</a:t>
            </a:r>
          </a:p>
        </p:txBody>
      </p:sp>
      <p:sp>
        <p:nvSpPr>
          <p:cNvPr id="8" name="">
            <a:extLst xmlns:a="http://schemas.openxmlformats.org/drawingml/2006/main">
              <a:ext uri="{FF2B5EF4-FFF2-40B4-BE49-F238E27FC236}">
                <a16:creationId xmlns:a16="http://schemas.microsoft.com/office/drawing/2014/main" id="{83B470CD-9F0E-4611-B47E-EFCA413CF0BC}"/>
              </a:ext>
            </a:extLst>
          </p:cNvPr>
          <p:cNvSpPr>
            <a:spLocks xmlns:a="http://schemas.openxmlformats.org/drawingml/2006/main" noGrp="1"/>
          </p:cNvSpPr>
          <p:nvPr/>
        </p:nvSpPr>
        <p:spPr>
          <a:xfrm xmlns:a="http://schemas.openxmlformats.org/drawingml/2006/main">
            <a:off x="1619250" y="32004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4C0D8"/>
                </a:solidFill>
                <a:latin typeface="Arial"/>
                <a:ea typeface="Arial"/>
                <a:cs typeface="Arial"/>
              </a:defRPr>
            </a:defPPr>
          </a:lstStyle>
          <a:p xmlns:a="http://schemas.openxmlformats.org/drawingml/2006/main">
            <a:pPr>
              <a:defRPr sz="1875" b="0">
                <a:solidFill>
                  <a:srgbClr val="B4C0D8"/>
                </a:solidFill>
                <a:latin typeface="Arial"/>
                <a:ea typeface="Arial"/>
                <a:cs typeface="Arial"/>
              </a:defRPr>
            </a:pPr>
            <a:r>
              <a:rPr sz="1875" b="0">
                <a:solidFill>
                  <a:srgbClr val="B4C0D8"/>
                </a:solidFill>
                <a:latin typeface="Arial"/>
                <a:ea typeface="Arial"/>
                <a:cs typeface="Arial"/>
              </a:rPr>
              <a:t>Use known answers or a reference solution.</a:t>
            </a:r>
          </a:p>
        </p:txBody>
      </p:sp>
      <p:sp>
        <p:nvSpPr>
          <p:cNvPr id="9" name="">
            <a:extLst xmlns:a="http://schemas.openxmlformats.org/drawingml/2006/main">
              <a:ext uri="{FF2B5EF4-FFF2-40B4-BE49-F238E27FC236}">
                <a16:creationId xmlns:a16="http://schemas.microsoft.com/office/drawing/2014/main" id="{A29ECA08-A13D-44D1-ADBA-B1AA76A4D32B}"/>
              </a:ext>
            </a:extLst>
          </p:cNvPr>
          <p:cNvSpPr>
            <a:spLocks xmlns:a="http://schemas.openxmlformats.org/drawingml/2006/main" noGrp="1"/>
          </p:cNvSpPr>
          <p:nvPr/>
        </p:nvSpPr>
        <p:spPr>
          <a:xfrm xmlns:a="http://schemas.openxmlformats.org/drawingml/2006/main">
            <a:off x="647700" y="38100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C9F500"/>
                </a:solidFill>
                <a:latin typeface="Arial"/>
                <a:ea typeface="Arial"/>
                <a:cs typeface="Arial"/>
              </a:defRPr>
            </a:defPPr>
          </a:lstStyle>
          <a:p xmlns:a="http://schemas.openxmlformats.org/drawingml/2006/main">
            <a:pPr>
              <a:defRPr sz="2700" b="1">
                <a:solidFill>
                  <a:srgbClr val="C9F500"/>
                </a:solidFill>
                <a:latin typeface="Arial"/>
                <a:ea typeface="Arial"/>
                <a:cs typeface="Arial"/>
              </a:defRPr>
            </a:pPr>
            <a:r>
              <a:rPr sz="2700" b="1">
                <a:solidFill>
                  <a:srgbClr val="C9F500"/>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20F09C37-336C-408D-AF8D-7A2D462452BD}"/>
              </a:ext>
            </a:extLst>
          </p:cNvPr>
          <p:cNvSpPr>
            <a:spLocks xmlns:a="http://schemas.openxmlformats.org/drawingml/2006/main" noGrp="1"/>
          </p:cNvSpPr>
          <p:nvPr/>
        </p:nvSpPr>
        <p:spPr>
          <a:xfrm xmlns:a="http://schemas.openxmlformats.org/drawingml/2006/main">
            <a:off x="1619250" y="381000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5F7FF"/>
                </a:solidFill>
                <a:latin typeface="Arial"/>
                <a:ea typeface="Arial"/>
                <a:cs typeface="Arial"/>
              </a:defRPr>
            </a:defPPr>
          </a:lstStyle>
          <a:p xmlns:a="http://schemas.openxmlformats.org/drawingml/2006/main">
            <a:pPr>
              <a:defRPr sz="2400" b="1">
                <a:solidFill>
                  <a:srgbClr val="F5F7FF"/>
                </a:solidFill>
                <a:latin typeface="Arial"/>
                <a:ea typeface="Arial"/>
                <a:cs typeface="Arial"/>
              </a:defRPr>
            </a:pPr>
            <a:r>
              <a:rPr sz="2400" b="1">
                <a:solidFill>
                  <a:srgbClr val="F5F7FF"/>
                </a:solidFill>
                <a:latin typeface="Arial"/>
                <a:ea typeface="Arial"/>
                <a:cs typeface="Arial"/>
              </a:rPr>
              <a:t>Inspect the failure</a:t>
            </a:r>
          </a:p>
        </p:txBody>
      </p:sp>
      <p:sp>
        <p:nvSpPr>
          <p:cNvPr id="11" name="">
            <a:extLst xmlns:a="http://schemas.openxmlformats.org/drawingml/2006/main">
              <a:ext uri="{FF2B5EF4-FFF2-40B4-BE49-F238E27FC236}">
                <a16:creationId xmlns:a16="http://schemas.microsoft.com/office/drawing/2014/main" id="{67941F6A-02FE-4D96-8EE2-2169DBA2C0F0}"/>
              </a:ext>
            </a:extLst>
          </p:cNvPr>
          <p:cNvSpPr>
            <a:spLocks xmlns:a="http://schemas.openxmlformats.org/drawingml/2006/main" noGrp="1"/>
          </p:cNvSpPr>
          <p:nvPr/>
        </p:nvSpPr>
        <p:spPr>
          <a:xfrm xmlns:a="http://schemas.openxmlformats.org/drawingml/2006/main">
            <a:off x="1619250" y="4257675"/>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4C0D8"/>
                </a:solidFill>
                <a:latin typeface="Arial"/>
                <a:ea typeface="Arial"/>
                <a:cs typeface="Arial"/>
              </a:defRPr>
            </a:defPPr>
          </a:lstStyle>
          <a:p xmlns:a="http://schemas.openxmlformats.org/drawingml/2006/main">
            <a:pPr>
              <a:defRPr sz="1875" b="0">
                <a:solidFill>
                  <a:srgbClr val="B4C0D8"/>
                </a:solidFill>
                <a:latin typeface="Arial"/>
                <a:ea typeface="Arial"/>
                <a:cs typeface="Arial"/>
              </a:defRPr>
            </a:pPr>
            <a:r>
              <a:rPr sz="1875" b="0">
                <a:solidFill>
                  <a:srgbClr val="B4C0D8"/>
                </a:solidFill>
                <a:latin typeface="Arial"/>
                <a:ea typeface="Arial"/>
                <a:cs typeface="Arial"/>
              </a:rPr>
              <a:t>See the input, outputs, and variable changes.</a:t>
            </a:r>
          </a:p>
        </p:txBody>
      </p:sp>
      <p:sp>
        <p:nvSpPr>
          <p:cNvPr id="12" name="">
            <a:extLst xmlns:a="http://schemas.openxmlformats.org/drawingml/2006/main">
              <a:ext uri="{FF2B5EF4-FFF2-40B4-BE49-F238E27FC236}">
                <a16:creationId xmlns:a16="http://schemas.microsoft.com/office/drawing/2014/main" id="{56B1B0AC-A00C-4CBC-8BDB-894DC9993DAB}"/>
              </a:ext>
            </a:extLst>
          </p:cNvPr>
          <p:cNvSpPr>
            <a:spLocks xmlns:a="http://schemas.openxmlformats.org/drawingml/2006/main" noGrp="1"/>
          </p:cNvSpPr>
          <p:nvPr/>
        </p:nvSpPr>
        <p:spPr>
          <a:xfrm xmlns:a="http://schemas.openxmlformats.org/drawingml/2006/main">
            <a:off x="647700" y="486727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C9F500"/>
                </a:solidFill>
                <a:latin typeface="Arial"/>
                <a:ea typeface="Arial"/>
                <a:cs typeface="Arial"/>
              </a:defRPr>
            </a:defPPr>
          </a:lstStyle>
          <a:p xmlns:a="http://schemas.openxmlformats.org/drawingml/2006/main">
            <a:pPr>
              <a:defRPr sz="2700" b="1">
                <a:solidFill>
                  <a:srgbClr val="C9F500"/>
                </a:solidFill>
                <a:latin typeface="Arial"/>
                <a:ea typeface="Arial"/>
                <a:cs typeface="Arial"/>
              </a:defRPr>
            </a:pPr>
            <a:r>
              <a:rPr sz="2700" b="1">
                <a:solidFill>
                  <a:srgbClr val="C9F500"/>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4E229613-CD35-405F-9E40-677524E50FE8}"/>
              </a:ext>
            </a:extLst>
          </p:cNvPr>
          <p:cNvSpPr>
            <a:spLocks xmlns:a="http://schemas.openxmlformats.org/drawingml/2006/main" noGrp="1"/>
          </p:cNvSpPr>
          <p:nvPr/>
        </p:nvSpPr>
        <p:spPr>
          <a:xfrm xmlns:a="http://schemas.openxmlformats.org/drawingml/2006/main">
            <a:off x="1619250" y="486727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5F7FF"/>
                </a:solidFill>
                <a:latin typeface="Arial"/>
                <a:ea typeface="Arial"/>
                <a:cs typeface="Arial"/>
              </a:defRPr>
            </a:defPPr>
          </a:lstStyle>
          <a:p xmlns:a="http://schemas.openxmlformats.org/drawingml/2006/main">
            <a:pPr>
              <a:defRPr sz="2400" b="1">
                <a:solidFill>
                  <a:srgbClr val="F5F7FF"/>
                </a:solidFill>
                <a:latin typeface="Arial"/>
                <a:ea typeface="Arial"/>
                <a:cs typeface="Arial"/>
              </a:defRPr>
            </a:pPr>
            <a:r>
              <a:rPr sz="2400" b="1">
                <a:solidFill>
                  <a:srgbClr val="F5F7FF"/>
                </a:solidFill>
                <a:latin typeface="Arial"/>
                <a:ea typeface="Arial"/>
                <a:cs typeface="Arial"/>
              </a:rPr>
              <a:t>Check a fix</a:t>
            </a:r>
          </a:p>
        </p:txBody>
      </p:sp>
      <p:sp>
        <p:nvSpPr>
          <p:cNvPr id="14" name="">
            <a:extLst xmlns:a="http://schemas.openxmlformats.org/drawingml/2006/main">
              <a:ext uri="{FF2B5EF4-FFF2-40B4-BE49-F238E27FC236}">
                <a16:creationId xmlns:a16="http://schemas.microsoft.com/office/drawing/2014/main" id="{ABFB0C3A-CBBC-4F14-AD93-21A48C4E4B2E}"/>
              </a:ext>
            </a:extLst>
          </p:cNvPr>
          <p:cNvSpPr>
            <a:spLocks xmlns:a="http://schemas.openxmlformats.org/drawingml/2006/main" noGrp="1"/>
          </p:cNvSpPr>
          <p:nvPr/>
        </p:nvSpPr>
        <p:spPr>
          <a:xfrm xmlns:a="http://schemas.openxmlformats.org/drawingml/2006/main">
            <a:off x="1619250" y="531495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4C0D8"/>
                </a:solidFill>
                <a:latin typeface="Arial"/>
                <a:ea typeface="Arial"/>
                <a:cs typeface="Arial"/>
              </a:defRPr>
            </a:defPPr>
          </a:lstStyle>
          <a:p xmlns:a="http://schemas.openxmlformats.org/drawingml/2006/main">
            <a:pPr>
              <a:defRPr sz="1875" b="0">
                <a:solidFill>
                  <a:srgbClr val="B4C0D8"/>
                </a:solidFill>
                <a:latin typeface="Arial"/>
                <a:ea typeface="Arial"/>
                <a:cs typeface="Arial"/>
              </a:defRPr>
            </a:pPr>
            <a:r>
              <a:rPr sz="1875" b="0">
                <a:solidFill>
                  <a:srgbClr val="B4C0D8"/>
                </a:solidFill>
                <a:latin typeface="Arial"/>
                <a:ea typeface="Arial"/>
                <a:cs typeface="Arial"/>
              </a:rPr>
              <a:t>Test the AI proposal on the supplied cases.</a:t>
            </a:r>
          </a:p>
        </p:txBody>
      </p:sp>
    </p:spTree>
    <p:extLst>
      <p:ext uri="{BB962C8B-B14F-4D97-AF65-F5344CB8AC3E}">
        <p14:creationId xmlns:p14="http://schemas.microsoft.com/office/powerpoint/2010/main" val="1638729231"/>
      </p:ext>
    </p:extLst>
  </p:cSld>
</p:sld>
</file>

<file path=ppt/slides/slide4.xml><?xml version="1.0" encoding="utf-8"?>
<p:sld xmlns:p="http://schemas.openxmlformats.org/presentationml/2006/main">
  <p:cSld>
    <p:bg>
      <p:bgPr>
        <a:solidFill xmlns:a="http://schemas.openxmlformats.org/drawingml/2006/main">
          <a:srgbClr val="080C1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5882EBA-6B94-452A-A195-7B58EADB0FEB}"/>
              </a:ext>
            </a:extLst>
          </p:cNvPr>
          <p:cNvSpPr>
            <a:spLocks xmlns:a="http://schemas.openxmlformats.org/drawingml/2006/main" noGrp="1"/>
          </p:cNvSpPr>
          <p:nvPr/>
        </p:nvSpPr>
        <p:spPr>
          <a:xfrm xmlns:a="http://schemas.openxmlformats.org/drawingml/2006/main">
            <a:off x="647700" y="52387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5F7FF"/>
                </a:solidFill>
                <a:latin typeface="Arial"/>
                <a:ea typeface="Arial"/>
                <a:cs typeface="Arial"/>
              </a:defRPr>
            </a:defPPr>
          </a:lstStyle>
          <a:p xmlns:a="http://schemas.openxmlformats.org/drawingml/2006/main">
            <a:pPr>
              <a:defRPr sz="3600" b="1">
                <a:solidFill>
                  <a:srgbClr val="F5F7FF"/>
                </a:solidFill>
                <a:latin typeface="Arial"/>
                <a:ea typeface="Arial"/>
                <a:cs typeface="Arial"/>
              </a:defRPr>
            </a:pPr>
            <a:r>
              <a:rPr sz="3600" b="1">
                <a:solidFill>
                  <a:srgbClr val="F5F7FF"/>
                </a:solidFill>
                <a:latin typeface="Arial"/>
                <a:ea typeface="Arial"/>
                <a:cs typeface="Arial"/>
              </a:rPr>
              <a:t>A simple failing example</a:t>
            </a:r>
          </a:p>
        </p:txBody>
      </p:sp>
      <p:sp>
        <p:nvSpPr>
          <p:cNvPr id="2" name="">
            <a:extLst xmlns:a="http://schemas.openxmlformats.org/drawingml/2006/main">
              <a:ext uri="{FF2B5EF4-FFF2-40B4-BE49-F238E27FC236}">
                <a16:creationId xmlns:a16="http://schemas.microsoft.com/office/drawing/2014/main" id="{33CF71D1-F217-4DD1-A5E7-515A1BAA3185}"/>
              </a:ext>
            </a:extLst>
          </p:cNvPr>
          <p:cNvSpPr>
            <a:spLocks xmlns:a="http://schemas.openxmlformats.org/drawingml/2006/main" noGrp="1"/>
          </p:cNvSpPr>
          <p:nvPr/>
        </p:nvSpPr>
        <p:spPr>
          <a:xfrm xmlns:a="http://schemas.openxmlformats.org/drawingml/2006/main">
            <a:off x="10953750" y="6334125"/>
            <a:ext cx="59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4C0D8"/>
                </a:solidFill>
                <a:latin typeface="Arial"/>
                <a:ea typeface="Arial"/>
                <a:cs typeface="Arial"/>
              </a:defRPr>
            </a:defPPr>
          </a:lstStyle>
          <a:p xmlns:a="http://schemas.openxmlformats.org/drawingml/2006/main">
            <a:pPr>
              <a:defRPr sz="1350" b="0">
                <a:solidFill>
                  <a:srgbClr val="B4C0D8"/>
                </a:solidFill>
                <a:latin typeface="Arial"/>
                <a:ea typeface="Arial"/>
                <a:cs typeface="Arial"/>
              </a:defRPr>
            </a:pPr>
            <a:r>
              <a:rPr sz="1350" b="0">
                <a:solidFill>
                  <a:srgbClr val="B4C0D8"/>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6EF14A36-37C7-437E-9981-D5F3E9CC2C61}"/>
              </a:ext>
            </a:extLst>
          </p:cNvPr>
          <p:cNvSpPr>
            <a:spLocks xmlns:a="http://schemas.openxmlformats.org/drawingml/2006/main" noGrp="1"/>
          </p:cNvSpPr>
          <p:nvPr/>
        </p:nvSpPr>
        <p:spPr>
          <a:xfrm xmlns:a="http://schemas.openxmlformats.org/drawingml/2006/main">
            <a:off x="647700" y="16383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5F7FF"/>
                </a:solidFill>
                <a:latin typeface="Arial"/>
                <a:ea typeface="Arial"/>
                <a:cs typeface="Arial"/>
              </a:defRPr>
            </a:defPPr>
          </a:lstStyle>
          <a:p xmlns:a="http://schemas.openxmlformats.org/drawingml/2006/main">
            <a:pPr>
              <a:defRPr sz="2400" b="0">
                <a:solidFill>
                  <a:srgbClr val="F5F7FF"/>
                </a:solidFill>
                <a:latin typeface="Arial"/>
                <a:ea typeface="Arial"/>
                <a:cs typeface="Arial"/>
              </a:defRPr>
            </a:pPr>
            <a:r>
              <a:rPr sz="2400" b="0">
                <a:solidFill>
                  <a:srgbClr val="F5F7FF"/>
                </a:solidFill>
                <a:latin typeface="Arial"/>
                <a:ea typeface="Arial"/>
                <a:cs typeface="Arial"/>
              </a:rPr>
              <a:t>Task: add every number, including negatives</a:t>
            </a:r>
          </a:p>
        </p:txBody>
      </p:sp>
      <p:sp>
        <p:nvSpPr>
          <p:cNvPr id="4" name="">
            <a:extLst xmlns:a="http://schemas.openxmlformats.org/drawingml/2006/main">
              <a:ext uri="{FF2B5EF4-FFF2-40B4-BE49-F238E27FC236}">
                <a16:creationId xmlns:a16="http://schemas.microsoft.com/office/drawing/2014/main" id="{C0E63219-9E9F-43B1-B426-F7A3FB982FD4}"/>
              </a:ext>
            </a:extLst>
          </p:cNvPr>
          <p:cNvSpPr>
            <a:spLocks xmlns:a="http://schemas.openxmlformats.org/drawingml/2006/main" noGrp="1"/>
          </p:cNvSpPr>
          <p:nvPr/>
        </p:nvSpPr>
        <p:spPr>
          <a:xfrm xmlns:a="http://schemas.openxmlformats.org/drawingml/2006/main">
            <a:off x="647700" y="2619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4C0D8"/>
                </a:solidFill>
                <a:latin typeface="Arial"/>
                <a:ea typeface="Arial"/>
                <a:cs typeface="Arial"/>
              </a:defRPr>
            </a:defPPr>
          </a:lstStyle>
          <a:p xmlns:a="http://schemas.openxmlformats.org/drawingml/2006/main">
            <a:pPr>
              <a:defRPr sz="1950" b="0">
                <a:solidFill>
                  <a:srgbClr val="B4C0D8"/>
                </a:solidFill>
                <a:latin typeface="Arial"/>
                <a:ea typeface="Arial"/>
                <a:cs typeface="Arial"/>
              </a:defRPr>
            </a:pPr>
            <a:r>
              <a:rPr sz="1950" b="0">
                <a:solidFill>
                  <a:srgbClr val="B4C0D8"/>
                </a:solidFill>
                <a:latin typeface="Arial"/>
                <a:ea typeface="Arial"/>
                <a:cs typeface="Arial"/>
              </a:rPr>
              <a:t>Input values</a:t>
            </a:r>
          </a:p>
        </p:txBody>
      </p:sp>
      <p:sp>
        <p:nvSpPr>
          <p:cNvPr id="5" name="">
            <a:extLst xmlns:a="http://schemas.openxmlformats.org/drawingml/2006/main">
              <a:ext uri="{FF2B5EF4-FFF2-40B4-BE49-F238E27FC236}">
                <a16:creationId xmlns:a16="http://schemas.microsoft.com/office/drawing/2014/main" id="{5D738E19-89A3-47B1-99C2-42B6C0AA0B46}"/>
              </a:ext>
            </a:extLst>
          </p:cNvPr>
          <p:cNvSpPr>
            <a:spLocks xmlns:a="http://schemas.openxmlformats.org/drawingml/2006/main" noGrp="1"/>
          </p:cNvSpPr>
          <p:nvPr/>
        </p:nvSpPr>
        <p:spPr>
          <a:xfrm xmlns:a="http://schemas.openxmlformats.org/drawingml/2006/main">
            <a:off x="647700" y="312420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F5F7FF"/>
                </a:solidFill>
                <a:latin typeface="Arial"/>
                <a:ea typeface="Arial"/>
                <a:cs typeface="Arial"/>
              </a:defRPr>
            </a:defPPr>
          </a:lstStyle>
          <a:p xmlns:a="http://schemas.openxmlformats.org/drawingml/2006/main">
            <a:pPr>
              <a:defRPr sz="5100" b="1">
                <a:solidFill>
                  <a:srgbClr val="F5F7FF"/>
                </a:solidFill>
                <a:latin typeface="Arial"/>
                <a:ea typeface="Arial"/>
                <a:cs typeface="Arial"/>
              </a:defRPr>
            </a:pPr>
            <a:r>
              <a:rPr sz="5100" b="1">
                <a:solidFill>
                  <a:srgbClr val="F5F7FF"/>
                </a:solidFill>
                <a:latin typeface="Arial"/>
                <a:ea typeface="Arial"/>
                <a:cs typeface="Arial"/>
              </a:rPr>
              <a:t>-2    0    5</a:t>
            </a:r>
          </a:p>
        </p:txBody>
      </p:sp>
      <p:sp>
        <p:nvSpPr>
          <p:cNvPr id="6" name="">
            <a:extLst xmlns:a="http://schemas.openxmlformats.org/drawingml/2006/main">
              <a:ext uri="{FF2B5EF4-FFF2-40B4-BE49-F238E27FC236}">
                <a16:creationId xmlns:a16="http://schemas.microsoft.com/office/drawing/2014/main" id="{0B548059-1889-4246-A083-A4E4370DE0CA}"/>
              </a:ext>
            </a:extLst>
          </p:cNvPr>
          <p:cNvSpPr>
            <a:spLocks xmlns:a="http://schemas.openxmlformats.org/drawingml/2006/main" noGrp="1"/>
          </p:cNvSpPr>
          <p:nvPr/>
        </p:nvSpPr>
        <p:spPr>
          <a:xfrm xmlns:a="http://schemas.openxmlformats.org/drawingml/2006/main">
            <a:off x="7286625" y="262890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4C0D8"/>
                </a:solidFill>
                <a:latin typeface="Arial"/>
                <a:ea typeface="Arial"/>
                <a:cs typeface="Arial"/>
              </a:defRPr>
            </a:defPPr>
          </a:lstStyle>
          <a:p xmlns:a="http://schemas.openxmlformats.org/drawingml/2006/main">
            <a:pPr>
              <a:defRPr sz="1950" b="0">
                <a:solidFill>
                  <a:srgbClr val="B4C0D8"/>
                </a:solidFill>
                <a:latin typeface="Arial"/>
                <a:ea typeface="Arial"/>
                <a:cs typeface="Arial"/>
              </a:defRPr>
            </a:pPr>
            <a:r>
              <a:rPr sz="1950" b="0">
                <a:solidFill>
                  <a:srgbClr val="B4C0D8"/>
                </a:solidFill>
                <a:latin typeface="Arial"/>
                <a:ea typeface="Arial"/>
                <a:cs typeface="Arial"/>
              </a:rPr>
              <a:t>Expected answer</a:t>
            </a:r>
          </a:p>
        </p:txBody>
      </p:sp>
      <p:sp>
        <p:nvSpPr>
          <p:cNvPr id="7" name="">
            <a:extLst xmlns:a="http://schemas.openxmlformats.org/drawingml/2006/main">
              <a:ext uri="{FF2B5EF4-FFF2-40B4-BE49-F238E27FC236}">
                <a16:creationId xmlns:a16="http://schemas.microsoft.com/office/drawing/2014/main" id="{2E601CA2-D6BA-4D4A-9564-3469B2B079CE}"/>
              </a:ext>
            </a:extLst>
          </p:cNvPr>
          <p:cNvSpPr>
            <a:spLocks xmlns:a="http://schemas.openxmlformats.org/drawingml/2006/main" noGrp="1"/>
          </p:cNvSpPr>
          <p:nvPr/>
        </p:nvSpPr>
        <p:spPr>
          <a:xfrm xmlns:a="http://schemas.openxmlformats.org/drawingml/2006/main">
            <a:off x="7286625" y="3095625"/>
            <a:ext cx="180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C9F500"/>
                </a:solidFill>
                <a:latin typeface="Arial"/>
                <a:ea typeface="Arial"/>
                <a:cs typeface="Arial"/>
              </a:defRPr>
            </a:defPPr>
          </a:lstStyle>
          <a:p xmlns:a="http://schemas.openxmlformats.org/drawingml/2006/main">
            <a:pPr>
              <a:defRPr sz="5250" b="1">
                <a:solidFill>
                  <a:srgbClr val="C9F500"/>
                </a:solidFill>
                <a:latin typeface="Arial"/>
                <a:ea typeface="Arial"/>
                <a:cs typeface="Arial"/>
              </a:defRPr>
            </a:pPr>
            <a:r>
              <a:rPr sz="5250" b="1">
                <a:solidFill>
                  <a:srgbClr val="C9F500"/>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070568A6-76F6-4218-9691-79E3E31E7DC9}"/>
              </a:ext>
            </a:extLst>
          </p:cNvPr>
          <p:cNvSpPr>
            <a:spLocks xmlns:a="http://schemas.openxmlformats.org/drawingml/2006/main" noGrp="1"/>
          </p:cNvSpPr>
          <p:nvPr/>
        </p:nvSpPr>
        <p:spPr>
          <a:xfrm xmlns:a="http://schemas.openxmlformats.org/drawingml/2006/main">
            <a:off x="7286625" y="42576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4C0D8"/>
                </a:solidFill>
                <a:latin typeface="Arial"/>
                <a:ea typeface="Arial"/>
                <a:cs typeface="Arial"/>
              </a:defRPr>
            </a:defPPr>
          </a:lstStyle>
          <a:p xmlns:a="http://schemas.openxmlformats.org/drawingml/2006/main">
            <a:pPr>
              <a:defRPr sz="1950" b="0">
                <a:solidFill>
                  <a:srgbClr val="B4C0D8"/>
                </a:solidFill>
                <a:latin typeface="Arial"/>
                <a:ea typeface="Arial"/>
                <a:cs typeface="Arial"/>
              </a:defRPr>
            </a:pPr>
            <a:r>
              <a:rPr sz="1950" b="0">
                <a:solidFill>
                  <a:srgbClr val="B4C0D8"/>
                </a:solidFill>
                <a:latin typeface="Arial"/>
                <a:ea typeface="Arial"/>
                <a:cs typeface="Arial"/>
              </a:rPr>
              <a:t>Buggy answer</a:t>
            </a:r>
          </a:p>
        </p:txBody>
      </p:sp>
      <p:sp>
        <p:nvSpPr>
          <p:cNvPr id="9" name="">
            <a:extLst xmlns:a="http://schemas.openxmlformats.org/drawingml/2006/main">
              <a:ext uri="{FF2B5EF4-FFF2-40B4-BE49-F238E27FC236}">
                <a16:creationId xmlns:a16="http://schemas.microsoft.com/office/drawing/2014/main" id="{99ECC24C-3037-418B-8201-6205116DA0C0}"/>
              </a:ext>
            </a:extLst>
          </p:cNvPr>
          <p:cNvSpPr>
            <a:spLocks xmlns:a="http://schemas.openxmlformats.org/drawingml/2006/main" noGrp="1"/>
          </p:cNvSpPr>
          <p:nvPr/>
        </p:nvSpPr>
        <p:spPr>
          <a:xfrm xmlns:a="http://schemas.openxmlformats.org/drawingml/2006/main">
            <a:off x="7286625" y="4667250"/>
            <a:ext cx="1809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FF8E98"/>
                </a:solidFill>
                <a:latin typeface="Arial"/>
                <a:ea typeface="Arial"/>
                <a:cs typeface="Arial"/>
              </a:defRPr>
            </a:defPPr>
          </a:lstStyle>
          <a:p xmlns:a="http://schemas.openxmlformats.org/drawingml/2006/main">
            <a:pPr>
              <a:defRPr sz="5250" b="1">
                <a:solidFill>
                  <a:srgbClr val="FF8E98"/>
                </a:solidFill>
                <a:latin typeface="Arial"/>
                <a:ea typeface="Arial"/>
                <a:cs typeface="Arial"/>
              </a:defRPr>
            </a:pPr>
            <a:r>
              <a:rPr sz="5250" b="1">
                <a:solidFill>
                  <a:srgbClr val="FF8E98"/>
                </a:solidFill>
                <a:latin typeface="Arial"/>
                <a:ea typeface="Arial"/>
                <a:cs typeface="Arial"/>
              </a:rPr>
              <a:t>5</a:t>
            </a:r>
          </a:p>
        </p:txBody>
      </p:sp>
      <p:sp>
        <p:nvSpPr>
          <p:cNvPr id="10" name="">
            <a:extLst xmlns:a="http://schemas.openxmlformats.org/drawingml/2006/main">
              <a:ext uri="{FF2B5EF4-FFF2-40B4-BE49-F238E27FC236}">
                <a16:creationId xmlns:a16="http://schemas.microsoft.com/office/drawing/2014/main" id="{48BFE0B5-CDB0-4C88-ABA3-92EFA2F5A588}"/>
              </a:ext>
            </a:extLst>
          </p:cNvPr>
          <p:cNvSpPr>
            <a:spLocks xmlns:a="http://schemas.openxmlformats.org/drawingml/2006/main" noGrp="1"/>
          </p:cNvSpPr>
          <p:nvPr/>
        </p:nvSpPr>
        <p:spPr>
          <a:xfrm xmlns:a="http://schemas.openxmlformats.org/drawingml/2006/main">
            <a:off x="647700" y="4714875"/>
            <a:ext cx="590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5F7FF"/>
                </a:solidFill>
                <a:latin typeface="Arial"/>
                <a:ea typeface="Arial"/>
                <a:cs typeface="Arial"/>
              </a:defRPr>
            </a:defPPr>
          </a:lstStyle>
          <a:p xmlns:a="http://schemas.openxmlformats.org/drawingml/2006/main">
            <a:pPr>
              <a:defRPr sz="2400" b="0">
                <a:solidFill>
                  <a:srgbClr val="F5F7FF"/>
                </a:solidFill>
                <a:latin typeface="Arial"/>
                <a:ea typeface="Arial"/>
                <a:cs typeface="Arial"/>
              </a:defRPr>
            </a:pPr>
            <a:r>
              <a:rPr sz="2400" b="0">
                <a:solidFill>
                  <a:srgbClr val="F5F7FF"/>
                </a:solidFill>
                <a:latin typeface="Arial"/>
                <a:ea typeface="Arial"/>
                <a:cs typeface="Arial"/>
              </a:rPr>
              <a:t>The program skips -2</a:t>
            </a:r>
          </a:p>
        </p:txBody>
      </p:sp>
      <p:sp>
        <p:nvSpPr>
          <p:cNvPr id="11" name="">
            <a:extLst xmlns:a="http://schemas.openxmlformats.org/drawingml/2006/main">
              <a:ext uri="{FF2B5EF4-FFF2-40B4-BE49-F238E27FC236}">
                <a16:creationId xmlns:a16="http://schemas.microsoft.com/office/drawing/2014/main" id="{7681B120-4480-4FA7-94F1-D8F20F071A9D}"/>
              </a:ext>
            </a:extLst>
          </p:cNvPr>
          <p:cNvSpPr>
            <a:spLocks xmlns:a="http://schemas.openxmlformats.org/drawingml/2006/main" noGrp="1"/>
          </p:cNvSpPr>
          <p:nvPr/>
        </p:nvSpPr>
        <p:spPr>
          <a:xfrm xmlns:a="http://schemas.openxmlformats.org/drawingml/2006/main">
            <a:off x="647700" y="60769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B4C0D8"/>
                </a:solidFill>
                <a:latin typeface="Arial"/>
                <a:ea typeface="Arial"/>
                <a:cs typeface="Arial"/>
              </a:defRPr>
            </a:defPPr>
          </a:lstStyle>
          <a:p xmlns:a="http://schemas.openxmlformats.org/drawingml/2006/main">
            <a:pPr>
              <a:defRPr sz="1425" b="0">
                <a:solidFill>
                  <a:srgbClr val="B4C0D8"/>
                </a:solidFill>
                <a:latin typeface="Arial"/>
                <a:ea typeface="Arial"/>
                <a:cs typeface="Arial"/>
              </a:defRPr>
            </a:pPr>
            <a:r>
              <a:rPr sz="1425" b="0">
                <a:solidFill>
                  <a:srgbClr val="B4C0D8"/>
                </a:solidFill>
                <a:latin typeface="Arial"/>
                <a:ea typeface="Arial"/>
                <a:cs typeface="Arial"/>
              </a:rPr>
              <a:t>Illustrative example</a:t>
            </a:r>
          </a:p>
        </p:txBody>
      </p:sp>
    </p:spTree>
    <p:extLst>
      <p:ext uri="{BB962C8B-B14F-4D97-AF65-F5344CB8AC3E}">
        <p14:creationId xmlns:p14="http://schemas.microsoft.com/office/powerpoint/2010/main" val="135164642"/>
      </p:ext>
    </p:extLst>
  </p:cSld>
</p:sld>
</file>

<file path=ppt/slides/slide5.xml><?xml version="1.0" encoding="utf-8"?>
<p:sld xmlns:p="http://schemas.openxmlformats.org/presentationml/2006/main">
  <p:cSld>
    <p:bg>
      <p:bgPr>
        <a:solidFill xmlns:a="http://schemas.openxmlformats.org/drawingml/2006/main">
          <a:srgbClr val="080C1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D8E4713-9DD1-48FC-80CE-FA8B58174E31}"/>
              </a:ext>
            </a:extLst>
          </p:cNvPr>
          <p:cNvSpPr>
            <a:spLocks xmlns:a="http://schemas.openxmlformats.org/drawingml/2006/main" noGrp="1"/>
          </p:cNvSpPr>
          <p:nvPr/>
        </p:nvSpPr>
        <p:spPr>
          <a:xfrm xmlns:a="http://schemas.openxmlformats.org/drawingml/2006/main">
            <a:off x="647700" y="52387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5F7FF"/>
                </a:solidFill>
                <a:latin typeface="Arial"/>
                <a:ea typeface="Arial"/>
                <a:cs typeface="Arial"/>
              </a:defRPr>
            </a:defPPr>
          </a:lstStyle>
          <a:p xmlns:a="http://schemas.openxmlformats.org/drawingml/2006/main">
            <a:pPr>
              <a:defRPr sz="3600" b="1">
                <a:solidFill>
                  <a:srgbClr val="F5F7FF"/>
                </a:solidFill>
                <a:latin typeface="Arial"/>
                <a:ea typeface="Arial"/>
                <a:cs typeface="Arial"/>
              </a:defRPr>
            </a:pPr>
            <a:r>
              <a:rPr sz="3600" b="1">
                <a:solidFill>
                  <a:srgbClr val="F5F7FF"/>
                </a:solidFill>
                <a:latin typeface="Arial"/>
                <a:ea typeface="Arial"/>
                <a:cs typeface="Arial"/>
              </a:rPr>
              <a:t>A smaller input makes the bug clear</a:t>
            </a:r>
          </a:p>
        </p:txBody>
      </p:sp>
      <p:sp>
        <p:nvSpPr>
          <p:cNvPr id="2" name="">
            <a:extLst xmlns:a="http://schemas.openxmlformats.org/drawingml/2006/main">
              <a:ext uri="{FF2B5EF4-FFF2-40B4-BE49-F238E27FC236}">
                <a16:creationId xmlns:a16="http://schemas.microsoft.com/office/drawing/2014/main" id="{AB50EF96-3450-4D76-A70C-60834EA91165}"/>
              </a:ext>
            </a:extLst>
          </p:cNvPr>
          <p:cNvSpPr>
            <a:spLocks xmlns:a="http://schemas.openxmlformats.org/drawingml/2006/main" noGrp="1"/>
          </p:cNvSpPr>
          <p:nvPr/>
        </p:nvSpPr>
        <p:spPr>
          <a:xfrm xmlns:a="http://schemas.openxmlformats.org/drawingml/2006/main">
            <a:off x="10953750" y="6334125"/>
            <a:ext cx="59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4C0D8"/>
                </a:solidFill>
                <a:latin typeface="Arial"/>
                <a:ea typeface="Arial"/>
                <a:cs typeface="Arial"/>
              </a:defRPr>
            </a:defPPr>
          </a:lstStyle>
          <a:p xmlns:a="http://schemas.openxmlformats.org/drawingml/2006/main">
            <a:pPr>
              <a:defRPr sz="1350" b="0">
                <a:solidFill>
                  <a:srgbClr val="B4C0D8"/>
                </a:solidFill>
                <a:latin typeface="Arial"/>
                <a:ea typeface="Arial"/>
                <a:cs typeface="Arial"/>
              </a:defRPr>
            </a:pPr>
            <a:r>
              <a:rPr sz="1350" b="0">
                <a:solidFill>
                  <a:srgbClr val="B4C0D8"/>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1BFD2F8C-65D8-41A1-AF95-799D6336EF36}"/>
              </a:ext>
            </a:extLst>
          </p:cNvPr>
          <p:cNvSpPr>
            <a:spLocks xmlns:a="http://schemas.openxmlformats.org/drawingml/2006/main" noGrp="1"/>
          </p:cNvSpPr>
          <p:nvPr/>
        </p:nvSpPr>
        <p:spPr>
          <a:xfrm xmlns:a="http://schemas.openxmlformats.org/drawingml/2006/main">
            <a:off x="647700" y="19050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B4C0D8"/>
                </a:solidFill>
                <a:latin typeface="Arial"/>
                <a:ea typeface="Arial"/>
                <a:cs typeface="Arial"/>
              </a:defRPr>
            </a:defPPr>
          </a:lstStyle>
          <a:p xmlns:a="http://schemas.openxmlformats.org/drawingml/2006/main">
            <a:pPr>
              <a:defRPr sz="2100" b="0">
                <a:solidFill>
                  <a:srgbClr val="B4C0D8"/>
                </a:solidFill>
                <a:latin typeface="Arial"/>
                <a:ea typeface="Arial"/>
                <a:cs typeface="Arial"/>
              </a:defRPr>
            </a:pPr>
            <a:r>
              <a:rPr sz="2100" b="0">
                <a:solidFill>
                  <a:srgbClr val="B4C0D8"/>
                </a:solidFill>
                <a:latin typeface="Arial"/>
                <a:ea typeface="Arial"/>
                <a:cs typeface="Arial"/>
              </a:rPr>
              <a:t>Original values</a:t>
            </a:r>
          </a:p>
        </p:txBody>
      </p:sp>
      <p:sp>
        <p:nvSpPr>
          <p:cNvPr id="4" name="">
            <a:extLst xmlns:a="http://schemas.openxmlformats.org/drawingml/2006/main">
              <a:ext uri="{FF2B5EF4-FFF2-40B4-BE49-F238E27FC236}">
                <a16:creationId xmlns:a16="http://schemas.microsoft.com/office/drawing/2014/main" id="{CF917749-CD2B-4545-BFC6-8629C622EF39}"/>
              </a:ext>
            </a:extLst>
          </p:cNvPr>
          <p:cNvSpPr>
            <a:spLocks xmlns:a="http://schemas.openxmlformats.org/drawingml/2006/main" noGrp="1"/>
          </p:cNvSpPr>
          <p:nvPr/>
        </p:nvSpPr>
        <p:spPr>
          <a:xfrm xmlns:a="http://schemas.openxmlformats.org/drawingml/2006/main">
            <a:off x="647700" y="257175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F5F7FF"/>
                </a:solidFill>
                <a:latin typeface="Arial"/>
                <a:ea typeface="Arial"/>
                <a:cs typeface="Arial"/>
              </a:defRPr>
            </a:defPPr>
          </a:lstStyle>
          <a:p xmlns:a="http://schemas.openxmlformats.org/drawingml/2006/main">
            <a:pPr>
              <a:defRPr sz="4950" b="1">
                <a:solidFill>
                  <a:srgbClr val="F5F7FF"/>
                </a:solidFill>
                <a:latin typeface="Arial"/>
                <a:ea typeface="Arial"/>
                <a:cs typeface="Arial"/>
              </a:defRPr>
            </a:pPr>
            <a:r>
              <a:rPr sz="4950" b="1">
                <a:solidFill>
                  <a:srgbClr val="F5F7FF"/>
                </a:solidFill>
                <a:latin typeface="Arial"/>
                <a:ea typeface="Arial"/>
                <a:cs typeface="Arial"/>
              </a:rPr>
              <a:t>-2    0    5</a:t>
            </a:r>
          </a:p>
        </p:txBody>
      </p:sp>
      <p:sp>
        <p:nvSpPr>
          <p:cNvPr id="5" name="">
            <a:extLst xmlns:a="http://schemas.openxmlformats.org/drawingml/2006/main">
              <a:ext uri="{FF2B5EF4-FFF2-40B4-BE49-F238E27FC236}">
                <a16:creationId xmlns:a16="http://schemas.microsoft.com/office/drawing/2014/main" id="{7FF490EC-CE7F-4DA5-853C-5452FFE933E0}"/>
              </a:ext>
            </a:extLst>
          </p:cNvPr>
          <p:cNvSpPr>
            <a:spLocks xmlns:a="http://schemas.openxmlformats.org/drawingml/2006/main" noGrp="1"/>
          </p:cNvSpPr>
          <p:nvPr/>
        </p:nvSpPr>
        <p:spPr>
          <a:xfrm xmlns:a="http://schemas.openxmlformats.org/drawingml/2006/main">
            <a:off x="7286625" y="1905000"/>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B4C0D8"/>
                </a:solidFill>
                <a:latin typeface="Arial"/>
                <a:ea typeface="Arial"/>
                <a:cs typeface="Arial"/>
              </a:defRPr>
            </a:defPPr>
          </a:lstStyle>
          <a:p xmlns:a="http://schemas.openxmlformats.org/drawingml/2006/main">
            <a:pPr>
              <a:defRPr sz="2100" b="0">
                <a:solidFill>
                  <a:srgbClr val="B4C0D8"/>
                </a:solidFill>
                <a:latin typeface="Arial"/>
                <a:ea typeface="Arial"/>
                <a:cs typeface="Arial"/>
              </a:defRPr>
            </a:pPr>
            <a:r>
              <a:rPr sz="2100" b="0">
                <a:solidFill>
                  <a:srgbClr val="B4C0D8"/>
                </a:solidFill>
                <a:latin typeface="Arial"/>
                <a:ea typeface="Arial"/>
                <a:cs typeface="Arial"/>
              </a:rPr>
              <a:t>Smaller failing input</a:t>
            </a:r>
          </a:p>
        </p:txBody>
      </p:sp>
      <p:sp>
        <p:nvSpPr>
          <p:cNvPr id="6" name="">
            <a:extLst xmlns:a="http://schemas.openxmlformats.org/drawingml/2006/main">
              <a:ext uri="{FF2B5EF4-FFF2-40B4-BE49-F238E27FC236}">
                <a16:creationId xmlns:a16="http://schemas.microsoft.com/office/drawing/2014/main" id="{98519EF1-92C4-44D0-8AC5-20EEBD1EC6E7}"/>
              </a:ext>
            </a:extLst>
          </p:cNvPr>
          <p:cNvSpPr>
            <a:spLocks xmlns:a="http://schemas.openxmlformats.org/drawingml/2006/main" noGrp="1"/>
          </p:cNvSpPr>
          <p:nvPr/>
        </p:nvSpPr>
        <p:spPr>
          <a:xfrm xmlns:a="http://schemas.openxmlformats.org/drawingml/2006/main">
            <a:off x="7286625" y="2571750"/>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150" b="1">
                <a:solidFill>
                  <a:srgbClr val="C9F500"/>
                </a:solidFill>
                <a:latin typeface="Arial"/>
                <a:ea typeface="Arial"/>
                <a:cs typeface="Arial"/>
              </a:defRPr>
            </a:defPPr>
          </a:lstStyle>
          <a:p xmlns:a="http://schemas.openxmlformats.org/drawingml/2006/main">
            <a:pPr>
              <a:defRPr sz="6150" b="1">
                <a:solidFill>
                  <a:srgbClr val="C9F500"/>
                </a:solidFill>
                <a:latin typeface="Arial"/>
                <a:ea typeface="Arial"/>
                <a:cs typeface="Arial"/>
              </a:defRPr>
            </a:pPr>
            <a:r>
              <a:rPr sz="6150" b="1">
                <a:solidFill>
                  <a:srgbClr val="C9F500"/>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1F1C3792-F770-4DE5-8D8D-1C0DEA7A2DF2}"/>
              </a:ext>
            </a:extLst>
          </p:cNvPr>
          <p:cNvSpPr>
            <a:spLocks xmlns:a="http://schemas.openxmlformats.org/drawingml/2006/main" noGrp="1"/>
          </p:cNvSpPr>
          <p:nvPr/>
        </p:nvSpPr>
        <p:spPr>
          <a:xfrm xmlns:a="http://schemas.openxmlformats.org/drawingml/2006/main">
            <a:off x="647700" y="42100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F5F7FF"/>
                </a:solidFill>
                <a:latin typeface="Arial"/>
                <a:ea typeface="Arial"/>
                <a:cs typeface="Arial"/>
              </a:defRPr>
            </a:defPPr>
          </a:lstStyle>
          <a:p xmlns:a="http://schemas.openxmlformats.org/drawingml/2006/main">
            <a:pPr>
              <a:defRPr sz="2850" b="1">
                <a:solidFill>
                  <a:srgbClr val="F5F7FF"/>
                </a:solidFill>
                <a:latin typeface="Arial"/>
                <a:ea typeface="Arial"/>
                <a:cs typeface="Arial"/>
              </a:defRPr>
            </a:pPr>
            <a:r>
              <a:rPr sz="2850" b="1">
                <a:solidFill>
                  <a:srgbClr val="F5F7FF"/>
                </a:solidFill>
                <a:latin typeface="Arial"/>
                <a:ea typeface="Arial"/>
                <a:cs typeface="Arial"/>
              </a:rPr>
              <a:t>Expected: -2     Buggy output: 0</a:t>
            </a:r>
          </a:p>
        </p:txBody>
      </p:sp>
      <p:sp>
        <p:nvSpPr>
          <p:cNvPr id="8" name="">
            <a:extLst xmlns:a="http://schemas.openxmlformats.org/drawingml/2006/main">
              <a:ext uri="{FF2B5EF4-FFF2-40B4-BE49-F238E27FC236}">
                <a16:creationId xmlns:a16="http://schemas.microsoft.com/office/drawing/2014/main" id="{0D4EFE1F-EE7A-48AA-9044-AD3C3E37FC88}"/>
              </a:ext>
            </a:extLst>
          </p:cNvPr>
          <p:cNvSpPr>
            <a:spLocks xmlns:a="http://schemas.openxmlformats.org/drawingml/2006/main" noGrp="1"/>
          </p:cNvSpPr>
          <p:nvPr/>
        </p:nvSpPr>
        <p:spPr>
          <a:xfrm xmlns:a="http://schemas.openxmlformats.org/drawingml/2006/main">
            <a:off x="647700" y="51339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B4C0D8"/>
                </a:solidFill>
                <a:latin typeface="Arial"/>
                <a:ea typeface="Arial"/>
                <a:cs typeface="Arial"/>
              </a:defRPr>
            </a:defPPr>
          </a:lstStyle>
          <a:p xmlns:a="http://schemas.openxmlformats.org/drawingml/2006/main">
            <a:pPr>
              <a:defRPr sz="2100" b="0">
                <a:solidFill>
                  <a:srgbClr val="B4C0D8"/>
                </a:solidFill>
                <a:latin typeface="Arial"/>
                <a:ea typeface="Arial"/>
                <a:cs typeface="Arial"/>
              </a:defRPr>
            </a:pPr>
            <a:r>
              <a:rPr sz="2100" b="0">
                <a:solidFill>
                  <a:srgbClr val="B4C0D8"/>
                </a:solidFill>
                <a:latin typeface="Arial"/>
                <a:ea typeface="Arial"/>
                <a:cs typeface="Arial"/>
              </a:rPr>
              <a:t>The runner checks that the smaller input still fails.</a:t>
            </a:r>
          </a:p>
        </p:txBody>
      </p:sp>
      <p:sp>
        <p:nvSpPr>
          <p:cNvPr id="9" name="">
            <a:extLst xmlns:a="http://schemas.openxmlformats.org/drawingml/2006/main">
              <a:ext uri="{FF2B5EF4-FFF2-40B4-BE49-F238E27FC236}">
                <a16:creationId xmlns:a16="http://schemas.microsoft.com/office/drawing/2014/main" id="{916FFE72-B111-439F-A8B4-C70CD25B5F3F}"/>
              </a:ext>
            </a:extLst>
          </p:cNvPr>
          <p:cNvSpPr>
            <a:spLocks xmlns:a="http://schemas.openxmlformats.org/drawingml/2006/main" noGrp="1"/>
          </p:cNvSpPr>
          <p:nvPr/>
        </p:nvSpPr>
        <p:spPr>
          <a:xfrm xmlns:a="http://schemas.openxmlformats.org/drawingml/2006/main">
            <a:off x="647700" y="607695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B4C0D8"/>
                </a:solidFill>
                <a:latin typeface="Arial"/>
                <a:ea typeface="Arial"/>
                <a:cs typeface="Arial"/>
              </a:defRPr>
            </a:defPPr>
          </a:lstStyle>
          <a:p xmlns:a="http://schemas.openxmlformats.org/drawingml/2006/main">
            <a:pPr>
              <a:defRPr sz="1425" b="0">
                <a:solidFill>
                  <a:srgbClr val="B4C0D8"/>
                </a:solidFill>
                <a:latin typeface="Arial"/>
                <a:ea typeface="Arial"/>
                <a:cs typeface="Arial"/>
              </a:defRPr>
            </a:pPr>
            <a:r>
              <a:rPr sz="1425" b="0">
                <a:solidFill>
                  <a:srgbClr val="B4C0D8"/>
                </a:solidFill>
                <a:latin typeface="Arial"/>
                <a:ea typeface="Arial"/>
                <a:cs typeface="Arial"/>
              </a:rPr>
              <a:t>Illustration. Best reduction within a budget, not guaranteed smallest.</a:t>
            </a:r>
          </a:p>
        </p:txBody>
      </p:sp>
    </p:spTree>
    <p:extLst>
      <p:ext uri="{BB962C8B-B14F-4D97-AF65-F5344CB8AC3E}">
        <p14:creationId xmlns:p14="http://schemas.microsoft.com/office/powerpoint/2010/main" val="1230966849"/>
      </p:ext>
    </p:extLst>
  </p:cSld>
</p:sld>
</file>

<file path=ppt/slides/slide6.xml><?xml version="1.0" encoding="utf-8"?>
<p:sld xmlns:p="http://schemas.openxmlformats.org/presentationml/2006/main">
  <p:cSld>
    <p:bg>
      <p:bgPr>
        <a:solidFill xmlns:a="http://schemas.openxmlformats.org/drawingml/2006/main">
          <a:srgbClr val="080C1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F181FD-5082-43FE-B9FE-BB74D01AF31C}"/>
              </a:ext>
            </a:extLst>
          </p:cNvPr>
          <p:cNvSpPr>
            <a:spLocks xmlns:a="http://schemas.openxmlformats.org/drawingml/2006/main" noGrp="1"/>
          </p:cNvSpPr>
          <p:nvPr/>
        </p:nvSpPr>
        <p:spPr>
          <a:xfrm xmlns:a="http://schemas.openxmlformats.org/drawingml/2006/main">
            <a:off x="647700" y="52387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5F7FF"/>
                </a:solidFill>
                <a:latin typeface="Arial"/>
                <a:ea typeface="Arial"/>
                <a:cs typeface="Arial"/>
              </a:defRPr>
            </a:defPPr>
          </a:lstStyle>
          <a:p xmlns:a="http://schemas.openxmlformats.org/drawingml/2006/main">
            <a:pPr>
              <a:defRPr sz="3600" b="1">
                <a:solidFill>
                  <a:srgbClr val="F5F7FF"/>
                </a:solidFill>
                <a:latin typeface="Arial"/>
                <a:ea typeface="Arial"/>
                <a:cs typeface="Arial"/>
              </a:defRPr>
            </a:pPr>
            <a:r>
              <a:rPr sz="3600" b="1">
                <a:solidFill>
                  <a:srgbClr val="F5F7FF"/>
                </a:solidFill>
                <a:latin typeface="Arial"/>
                <a:ea typeface="Arial"/>
                <a:cs typeface="Arial"/>
              </a:rPr>
              <a:t>Variable changes explain the failure</a:t>
            </a:r>
          </a:p>
        </p:txBody>
      </p:sp>
      <p:sp>
        <p:nvSpPr>
          <p:cNvPr id="2" name="">
            <a:extLst xmlns:a="http://schemas.openxmlformats.org/drawingml/2006/main">
              <a:ext uri="{FF2B5EF4-FFF2-40B4-BE49-F238E27FC236}">
                <a16:creationId xmlns:a16="http://schemas.microsoft.com/office/drawing/2014/main" id="{979F76CF-974A-43E3-957B-87CC1B4EC78D}"/>
              </a:ext>
            </a:extLst>
          </p:cNvPr>
          <p:cNvSpPr>
            <a:spLocks xmlns:a="http://schemas.openxmlformats.org/drawingml/2006/main" noGrp="1"/>
          </p:cNvSpPr>
          <p:nvPr/>
        </p:nvSpPr>
        <p:spPr>
          <a:xfrm xmlns:a="http://schemas.openxmlformats.org/drawingml/2006/main">
            <a:off x="10953750" y="6334125"/>
            <a:ext cx="59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4C0D8"/>
                </a:solidFill>
                <a:latin typeface="Arial"/>
                <a:ea typeface="Arial"/>
                <a:cs typeface="Arial"/>
              </a:defRPr>
            </a:defPPr>
          </a:lstStyle>
          <a:p xmlns:a="http://schemas.openxmlformats.org/drawingml/2006/main">
            <a:pPr>
              <a:defRPr sz="1350" b="0">
                <a:solidFill>
                  <a:srgbClr val="B4C0D8"/>
                </a:solidFill>
                <a:latin typeface="Arial"/>
                <a:ea typeface="Arial"/>
                <a:cs typeface="Arial"/>
              </a:defRPr>
            </a:pPr>
            <a:r>
              <a:rPr sz="1350" b="0">
                <a:solidFill>
                  <a:srgbClr val="B4C0D8"/>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9BB0A14F-DFB7-4F59-82E9-A1AA68625FF3}"/>
              </a:ext>
            </a:extLst>
          </p:cNvPr>
          <p:cNvSpPr>
            <a:spLocks xmlns:a="http://schemas.openxmlformats.org/drawingml/2006/main" noGrp="1"/>
          </p:cNvSpPr>
          <p:nvPr/>
        </p:nvSpPr>
        <p:spPr>
          <a:xfrm xmlns:a="http://schemas.openxmlformats.org/drawingml/2006/main">
            <a:off x="647700" y="1638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C9F500"/>
                </a:solidFill>
                <a:latin typeface="Arial"/>
                <a:ea typeface="Arial"/>
                <a:cs typeface="Arial"/>
              </a:defRPr>
            </a:defPPr>
          </a:lstStyle>
          <a:p xmlns:a="http://schemas.openxmlformats.org/drawingml/2006/main">
            <a:pPr>
              <a:defRPr sz="2400" b="1">
                <a:solidFill>
                  <a:srgbClr val="C9F500"/>
                </a:solidFill>
                <a:latin typeface="Arial"/>
                <a:ea typeface="Arial"/>
                <a:cs typeface="Arial"/>
              </a:defRPr>
            </a:pPr>
            <a:r>
              <a:rPr sz="2400" b="1">
                <a:solidFill>
                  <a:srgbClr val="C9F500"/>
                </a:solidFill>
                <a:latin typeface="Arial"/>
                <a:ea typeface="Arial"/>
                <a:cs typeface="Arial"/>
              </a:rPr>
              <a:t>Input value: -2</a:t>
            </a:r>
          </a:p>
        </p:txBody>
      </p:sp>
      <p:graphicFrame>
        <p:nvGraphicFramePr>
          <p:cNvPr id="4" name="">
            <a:extLst xmlns:a="http://schemas.openxmlformats.org/drawingml/2006/main">
              <a:ext uri="{FF2B5EF4-FFF2-40B4-BE49-F238E27FC236}">
                <a16:creationId xmlns:a16="http://schemas.microsoft.com/office/drawing/2014/main" id="{B51822A2-50CE-4532-AD48-3CD6C728C7B9}"/>
              </a:ext>
            </a:extLst>
          </p:cNvPr>
          <p:cNvGraphicFramePr/>
          <p:nvPr/>
        </p:nvGraphicFramePr>
        <p:xfrm>
          <a:off xmlns:a="http://schemas.openxmlformats.org/drawingml/2006/main" x="647700" y="2514600"/>
          <a:ext xmlns:a="http://schemas.openxmlformats.org/drawingml/2006/main" cx="10858500" cy="2590800"/>
        </p:xfrm>
        <a:graphic xmlns:a="http://schemas.openxmlformats.org/drawingml/2006/main">
          <a:graphicData uri="http://schemas.openxmlformats.org/drawingml/2006/table">
            <a:tbl>
              <a:tblPr/>
              <a:tblGrid>
                <a:gridCol w="5619750"/>
                <a:gridCol w="2619375"/>
                <a:gridCol w="2619375"/>
              </a:tblGrid>
              <a:tr h="685800">
                <a:tc>
                  <a:txBody>
                    <a:bodyPr/>
                    <a:lstStyle/>
                    <a:p>
                      <a:r>
                        <a:rPr sz="1950" b="1">
                          <a:solidFill>
                            <a:srgbClr val="F5F7FF"/>
                          </a:solidFill>
                          <a:latin typeface="Arial"/>
                          <a:ea typeface="Arial"/>
                          <a:cs typeface="Arial"/>
                        </a:rPr>
                        <a:t>Moment</a:t>
                      </a:r>
                    </a:p>
                  </a:txBody>
                  <a:tcPr marL="91440" marR="91440" marT="45720" marB="45720">
                    <a:solidFill>
                      <a:srgbClr val="254BCB"/>
                    </a:solidFill>
                  </a:tcPr>
                </a:tc>
                <a:tc>
                  <a:txBody>
                    <a:bodyPr/>
                    <a:lstStyle/>
                    <a:p>
                      <a:r>
                        <a:rPr sz="1950" b="1">
                          <a:solidFill>
                            <a:srgbClr val="F5F7FF"/>
                          </a:solidFill>
                          <a:latin typeface="Arial"/>
                          <a:ea typeface="Arial"/>
                          <a:cs typeface="Arial"/>
                        </a:rPr>
                        <a:t>Your total</a:t>
                      </a:r>
                    </a:p>
                  </a:txBody>
                  <a:tcPr marL="91440" marR="91440" marT="45720" marB="45720">
                    <a:solidFill>
                      <a:srgbClr val="254BCB"/>
                    </a:solidFill>
                  </a:tcPr>
                </a:tc>
                <a:tc>
                  <a:txBody>
                    <a:bodyPr/>
                    <a:lstStyle/>
                    <a:p>
                      <a:r>
                        <a:rPr sz="1950" b="1">
                          <a:solidFill>
                            <a:srgbClr val="F5F7FF"/>
                          </a:solidFill>
                          <a:latin typeface="Arial"/>
                          <a:ea typeface="Arial"/>
                          <a:cs typeface="Arial"/>
                        </a:rPr>
                        <a:t>Reference total</a:t>
                      </a:r>
                    </a:p>
                  </a:txBody>
                  <a:tcPr marL="91440" marR="91440" marT="45720" marB="45720">
                    <a:solidFill>
                      <a:srgbClr val="254BCB"/>
                    </a:solidFill>
                  </a:tcPr>
                </a:tc>
              </a:tr>
              <a:tr h="952500">
                <a:tc>
                  <a:txBody>
                    <a:bodyPr/>
                    <a:lstStyle/>
                    <a:p>
                      <a:r>
                        <a:rPr sz="1950" b="0">
                          <a:solidFill>
                            <a:srgbClr val="F5F7FF"/>
                          </a:solidFill>
                          <a:latin typeface="Arial"/>
                          <a:ea typeface="Arial"/>
                          <a:cs typeface="Arial"/>
                        </a:rPr>
                        <a:t>Before adding the number</a:t>
                      </a:r>
                    </a:p>
                  </a:txBody>
                  <a:tcPr marL="91440" marR="91440" marT="45720" marB="45720">
                    <a:solidFill>
                      <a:srgbClr val="111B2F"/>
                    </a:solidFill>
                  </a:tcPr>
                </a:tc>
                <a:tc>
                  <a:txBody>
                    <a:bodyPr/>
                    <a:lstStyle/>
                    <a:p>
                      <a:r>
                        <a:rPr sz="1950" b="0">
                          <a:solidFill>
                            <a:srgbClr val="F5F7FF"/>
                          </a:solidFill>
                          <a:latin typeface="Arial"/>
                          <a:ea typeface="Arial"/>
                          <a:cs typeface="Arial"/>
                        </a:rPr>
                        <a:t>0</a:t>
                      </a:r>
                    </a:p>
                  </a:txBody>
                  <a:tcPr marL="91440" marR="91440" marT="45720" marB="45720">
                    <a:solidFill>
                      <a:srgbClr val="111B2F"/>
                    </a:solidFill>
                  </a:tcPr>
                </a:tc>
                <a:tc>
                  <a:txBody>
                    <a:bodyPr/>
                    <a:lstStyle/>
                    <a:p>
                      <a:r>
                        <a:rPr sz="1950" b="0">
                          <a:solidFill>
                            <a:srgbClr val="F5F7FF"/>
                          </a:solidFill>
                          <a:latin typeface="Arial"/>
                          <a:ea typeface="Arial"/>
                          <a:cs typeface="Arial"/>
                        </a:rPr>
                        <a:t>0</a:t>
                      </a:r>
                    </a:p>
                  </a:txBody>
                  <a:tcPr marL="91440" marR="91440" marT="45720" marB="45720">
                    <a:solidFill>
                      <a:srgbClr val="111B2F"/>
                    </a:solidFill>
                  </a:tcPr>
                </a:tc>
              </a:tr>
              <a:tr h="952500">
                <a:tc>
                  <a:txBody>
                    <a:bodyPr/>
                    <a:lstStyle/>
                    <a:p>
                      <a:r>
                        <a:rPr sz="1950" b="0">
                          <a:solidFill>
                            <a:srgbClr val="F5F7FF"/>
                          </a:solidFill>
                          <a:latin typeface="Arial"/>
                          <a:ea typeface="Arial"/>
                          <a:cs typeface="Arial"/>
                        </a:rPr>
                        <a:t>After adding the number</a:t>
                      </a:r>
                    </a:p>
                  </a:txBody>
                  <a:tcPr marL="91440" marR="91440" marT="45720" marB="45720">
                    <a:solidFill>
                      <a:srgbClr val="0C1425"/>
                    </a:solidFill>
                  </a:tcPr>
                </a:tc>
                <a:tc>
                  <a:txBody>
                    <a:bodyPr/>
                    <a:lstStyle/>
                    <a:p>
                      <a:r>
                        <a:rPr sz="1950" b="0">
                          <a:solidFill>
                            <a:srgbClr val="F5F7FF"/>
                          </a:solidFill>
                          <a:latin typeface="Arial"/>
                          <a:ea typeface="Arial"/>
                          <a:cs typeface="Arial"/>
                        </a:rPr>
                        <a:t>0</a:t>
                      </a:r>
                    </a:p>
                  </a:txBody>
                  <a:tcPr marL="91440" marR="91440" marT="45720" marB="45720">
                    <a:solidFill>
                      <a:srgbClr val="0C1425"/>
                    </a:solidFill>
                  </a:tcPr>
                </a:tc>
                <a:tc>
                  <a:txBody>
                    <a:bodyPr/>
                    <a:lstStyle/>
                    <a:p>
                      <a:r>
                        <a:rPr sz="1950" b="0">
                          <a:solidFill>
                            <a:srgbClr val="F5F7FF"/>
                          </a:solidFill>
                          <a:latin typeface="Arial"/>
                          <a:ea typeface="Arial"/>
                          <a:cs typeface="Arial"/>
                        </a:rPr>
                        <a:t>-2</a:t>
                      </a:r>
                    </a:p>
                  </a:txBody>
                  <a:tcPr marL="91440" marR="91440" marT="45720" marB="45720">
                    <a:solidFill>
                      <a:srgbClr val="0C1425"/>
                    </a:solidFill>
                  </a:tcPr>
                </a:tc>
              </a:tr>
            </a:tbl>
          </a:graphicData>
        </a:graphic>
      </p:graphicFrame>
      <p:sp>
        <p:nvSpPr>
          <p:cNvPr id="5" name="">
            <a:extLst xmlns:a="http://schemas.openxmlformats.org/drawingml/2006/main">
              <a:ext uri="{FF2B5EF4-FFF2-40B4-BE49-F238E27FC236}">
                <a16:creationId xmlns:a16="http://schemas.microsoft.com/office/drawing/2014/main" id="{67094714-B296-4D3F-9435-8913EF13428D}"/>
              </a:ext>
            </a:extLst>
          </p:cNvPr>
          <p:cNvSpPr>
            <a:spLocks xmlns:a="http://schemas.openxmlformats.org/drawingml/2006/main" noGrp="1"/>
          </p:cNvSpPr>
          <p:nvPr/>
        </p:nvSpPr>
        <p:spPr>
          <a:xfrm xmlns:a="http://schemas.openxmlformats.org/drawingml/2006/main">
            <a:off x="647700" y="54102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5F7FF"/>
                </a:solidFill>
                <a:latin typeface="Arial"/>
                <a:ea typeface="Arial"/>
                <a:cs typeface="Arial"/>
              </a:defRPr>
            </a:defPPr>
          </a:lstStyle>
          <a:p xmlns:a="http://schemas.openxmlformats.org/drawingml/2006/main">
            <a:pPr>
              <a:defRPr sz="2325" b="0">
                <a:solidFill>
                  <a:srgbClr val="F5F7FF"/>
                </a:solidFill>
                <a:latin typeface="Arial"/>
                <a:ea typeface="Arial"/>
                <a:cs typeface="Arial"/>
              </a:defRPr>
            </a:pPr>
            <a:r>
              <a:rPr sz="2325" b="0">
                <a:solidFill>
                  <a:srgbClr val="F5F7FF"/>
                </a:solidFill>
                <a:latin typeface="Arial"/>
                <a:ea typeface="Arial"/>
                <a:cs typeface="Arial"/>
              </a:rPr>
              <a:t>The buggy code ignores the negative value.</a:t>
            </a:r>
          </a:p>
        </p:txBody>
      </p:sp>
      <p:sp>
        <p:nvSpPr>
          <p:cNvPr id="6" name="">
            <a:extLst xmlns:a="http://schemas.openxmlformats.org/drawingml/2006/main">
              <a:ext uri="{FF2B5EF4-FFF2-40B4-BE49-F238E27FC236}">
                <a16:creationId xmlns:a16="http://schemas.microsoft.com/office/drawing/2014/main" id="{62F8F236-6D6E-4603-A307-5E7A5C42BAFE}"/>
              </a:ext>
            </a:extLst>
          </p:cNvPr>
          <p:cNvSpPr>
            <a:spLocks xmlns:a="http://schemas.openxmlformats.org/drawingml/2006/main" noGrp="1"/>
          </p:cNvSpPr>
          <p:nvPr/>
        </p:nvSpPr>
        <p:spPr>
          <a:xfrm xmlns:a="http://schemas.openxmlformats.org/drawingml/2006/main">
            <a:off x="647700" y="6076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B4C0D8"/>
                </a:solidFill>
                <a:latin typeface="Arial"/>
                <a:ea typeface="Arial"/>
                <a:cs typeface="Arial"/>
              </a:defRPr>
            </a:defPPr>
          </a:lstStyle>
          <a:p xmlns:a="http://schemas.openxmlformats.org/drawingml/2006/main">
            <a:pPr>
              <a:defRPr sz="1425" b="0">
                <a:solidFill>
                  <a:srgbClr val="B4C0D8"/>
                </a:solidFill>
                <a:latin typeface="Arial"/>
                <a:ea typeface="Arial"/>
                <a:cs typeface="Arial"/>
              </a:defRPr>
            </a:pPr>
            <a:r>
              <a:rPr sz="1425" b="0">
                <a:solidFill>
                  <a:srgbClr val="B4C0D8"/>
                </a:solidFill>
                <a:latin typeface="Arial"/>
                <a:ea typeface="Arial"/>
                <a:cs typeface="Arial"/>
              </a:rPr>
              <a:t>Illustrative states. Traces provide debugging clues.</a:t>
            </a:r>
          </a:p>
        </p:txBody>
      </p:sp>
    </p:spTree>
    <p:extLst>
      <p:ext uri="{BB962C8B-B14F-4D97-AF65-F5344CB8AC3E}">
        <p14:creationId xmlns:p14="http://schemas.microsoft.com/office/powerpoint/2010/main" val="1967825767"/>
      </p:ext>
    </p:extLst>
  </p:cSld>
</p:sld>
</file>

<file path=ppt/slides/slide7.xml><?xml version="1.0" encoding="utf-8"?>
<p:sld xmlns:p="http://schemas.openxmlformats.org/presentationml/2006/main">
  <p:cSld>
    <p:bg>
      <p:bgPr>
        <a:solidFill xmlns:a="http://schemas.openxmlformats.org/drawingml/2006/main">
          <a:srgbClr val="080C1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A460C1-44E1-4E75-BFB2-21B295FF1CBD}"/>
              </a:ext>
            </a:extLst>
          </p:cNvPr>
          <p:cNvSpPr>
            <a:spLocks xmlns:a="http://schemas.openxmlformats.org/drawingml/2006/main" noGrp="1"/>
          </p:cNvSpPr>
          <p:nvPr/>
        </p:nvSpPr>
        <p:spPr>
          <a:xfrm xmlns:a="http://schemas.openxmlformats.org/drawingml/2006/main">
            <a:off x="647700" y="52387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5F7FF"/>
                </a:solidFill>
                <a:latin typeface="Arial"/>
                <a:ea typeface="Arial"/>
                <a:cs typeface="Arial"/>
              </a:defRPr>
            </a:defPPr>
          </a:lstStyle>
          <a:p xmlns:a="http://schemas.openxmlformats.org/drawingml/2006/main">
            <a:pPr>
              <a:defRPr sz="3600" b="1">
                <a:solidFill>
                  <a:srgbClr val="F5F7FF"/>
                </a:solidFill>
                <a:latin typeface="Arial"/>
                <a:ea typeface="Arial"/>
                <a:cs typeface="Arial"/>
              </a:defRPr>
            </a:pPr>
            <a:r>
              <a:rPr sz="3600" b="1">
                <a:solidFill>
                  <a:srgbClr val="F5F7FF"/>
                </a:solidFill>
                <a:latin typeface="Arial"/>
                <a:ea typeface="Arial"/>
                <a:cs typeface="Arial"/>
              </a:rPr>
              <a:t>The sandbox runs code separately</a:t>
            </a:r>
          </a:p>
        </p:txBody>
      </p:sp>
      <p:sp>
        <p:nvSpPr>
          <p:cNvPr id="2" name="">
            <a:extLst xmlns:a="http://schemas.openxmlformats.org/drawingml/2006/main">
              <a:ext uri="{FF2B5EF4-FFF2-40B4-BE49-F238E27FC236}">
                <a16:creationId xmlns:a16="http://schemas.microsoft.com/office/drawing/2014/main" id="{C61EBCBA-5FEB-41EB-A5E6-065133A8E39C}"/>
              </a:ext>
            </a:extLst>
          </p:cNvPr>
          <p:cNvSpPr>
            <a:spLocks xmlns:a="http://schemas.openxmlformats.org/drawingml/2006/main" noGrp="1"/>
          </p:cNvSpPr>
          <p:nvPr/>
        </p:nvSpPr>
        <p:spPr>
          <a:xfrm xmlns:a="http://schemas.openxmlformats.org/drawingml/2006/main">
            <a:off x="10953750" y="6334125"/>
            <a:ext cx="59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4C0D8"/>
                </a:solidFill>
                <a:latin typeface="Arial"/>
                <a:ea typeface="Arial"/>
                <a:cs typeface="Arial"/>
              </a:defRPr>
            </a:defPPr>
          </a:lstStyle>
          <a:p xmlns:a="http://schemas.openxmlformats.org/drawingml/2006/main">
            <a:pPr>
              <a:defRPr sz="1350" b="0">
                <a:solidFill>
                  <a:srgbClr val="B4C0D8"/>
                </a:solidFill>
                <a:latin typeface="Arial"/>
                <a:ea typeface="Arial"/>
                <a:cs typeface="Arial"/>
              </a:defRPr>
            </a:pPr>
            <a:r>
              <a:rPr sz="1350" b="0">
                <a:solidFill>
                  <a:srgbClr val="B4C0D8"/>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CC191858-F380-444A-8780-D88372BF4F81}"/>
              </a:ext>
            </a:extLst>
          </p:cNvPr>
          <p:cNvSpPr>
            <a:spLocks xmlns:a="http://schemas.openxmlformats.org/drawingml/2006/main" noGrp="1"/>
          </p:cNvSpPr>
          <p:nvPr/>
        </p:nvSpPr>
        <p:spPr>
          <a:xfrm xmlns:a="http://schemas.openxmlformats.org/drawingml/2006/main">
            <a:off x="647700" y="18097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C9F500"/>
                </a:solidFill>
                <a:latin typeface="Arial"/>
                <a:ea typeface="Arial"/>
                <a:cs typeface="Arial"/>
              </a:defRPr>
            </a:defPPr>
          </a:lstStyle>
          <a:p xmlns:a="http://schemas.openxmlformats.org/drawingml/2006/main">
            <a:pPr>
              <a:defRPr sz="2925" b="1">
                <a:solidFill>
                  <a:srgbClr val="C9F500"/>
                </a:solidFill>
                <a:latin typeface="Arial"/>
                <a:ea typeface="Arial"/>
                <a:cs typeface="Arial"/>
              </a:defRPr>
            </a:pPr>
            <a:r>
              <a:rPr sz="2925" b="1">
                <a:solidFill>
                  <a:srgbClr val="C9F500"/>
                </a:solidFill>
                <a:latin typeface="Arial"/>
                <a:ea typeface="Arial"/>
                <a:cs typeface="Arial"/>
              </a:rPr>
              <a:t>A separate place to run submitted Python</a:t>
            </a:r>
          </a:p>
        </p:txBody>
      </p:sp>
      <p:sp>
        <p:nvSpPr>
          <p:cNvPr id="4" name="">
            <a:extLst xmlns:a="http://schemas.openxmlformats.org/drawingml/2006/main">
              <a:ext uri="{FF2B5EF4-FFF2-40B4-BE49-F238E27FC236}">
                <a16:creationId xmlns:a16="http://schemas.microsoft.com/office/drawing/2014/main" id="{40C0E697-3334-47B1-83BF-B8915875E3FD}"/>
              </a:ext>
            </a:extLst>
          </p:cNvPr>
          <p:cNvSpPr>
            <a:spLocks xmlns:a="http://schemas.openxmlformats.org/drawingml/2006/main" noGrp="1"/>
          </p:cNvSpPr>
          <p:nvPr/>
        </p:nvSpPr>
        <p:spPr>
          <a:xfrm xmlns:a="http://schemas.openxmlformats.org/drawingml/2006/main">
            <a:off x="647700" y="2933700"/>
            <a:ext cx="10858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5F7FF"/>
                </a:solidFill>
                <a:latin typeface="Arial"/>
                <a:ea typeface="Arial"/>
                <a:cs typeface="Arial"/>
              </a:defRPr>
            </a:defPPr>
          </a:lstStyle>
          <a:p xmlns:a="http://schemas.openxmlformats.org/drawingml/2006/main">
            <a:pPr>
              <a:defRPr sz="2400" b="0">
                <a:solidFill>
                  <a:srgbClr val="F5F7FF"/>
                </a:solidFill>
                <a:latin typeface="Arial"/>
                <a:ea typeface="Arial"/>
                <a:cs typeface="Arial"/>
              </a:defRPr>
            </a:pPr>
            <a:r>
              <a:rPr sz="2400" b="0">
                <a:solidFill>
                  <a:srgbClr val="F5F7FF"/>
                </a:solidFill>
                <a:latin typeface="Arial"/>
                <a:ea typeface="Arial"/>
                <a:cs typeface="Arial"/>
              </a:rPr>
              <a:t>Runs your code and proposed fixes</a:t>
            </a:r>
          </a:p>
          <a:p xmlns:a="http://schemas.openxmlformats.org/drawingml/2006/main">
            <a:pPr>
              <a:defRPr sz="2400" b="0">
                <a:solidFill>
                  <a:srgbClr val="F5F7FF"/>
                </a:solidFill>
                <a:latin typeface="Arial"/>
                <a:ea typeface="Arial"/>
                <a:cs typeface="Arial"/>
              </a:defRPr>
            </a:pPr>
            <a:r>
              <a:rPr sz="2400" b="0">
                <a:solidFill>
                  <a:srgbClr val="F5F7FF"/>
                </a:solidFill>
                <a:latin typeface="Arial"/>
                <a:ea typeface="Arial"/>
                <a:cs typeface="Arial"/>
              </a:rPr>
              <a:t>Captures output and errors</a:t>
            </a:r>
          </a:p>
          <a:p xmlns:a="http://schemas.openxmlformats.org/drawingml/2006/main">
            <a:pPr>
              <a:defRPr sz="2400" b="0">
                <a:solidFill>
                  <a:srgbClr val="F5F7FF"/>
                </a:solidFill>
                <a:latin typeface="Arial"/>
                <a:ea typeface="Arial"/>
                <a:cs typeface="Arial"/>
              </a:defRPr>
            </a:pPr>
            <a:r>
              <a:rPr sz="2400" b="0">
                <a:solidFill>
                  <a:srgbClr val="F5F7FF"/>
                </a:solidFill>
                <a:latin typeface="Arial"/>
                <a:ea typeface="Arial"/>
                <a:cs typeface="Arial"/>
              </a:rPr>
              <a:t>Stops code that takes too long</a:t>
            </a:r>
          </a:p>
          <a:p xmlns:a="http://schemas.openxmlformats.org/drawingml/2006/main">
            <a:pPr>
              <a:defRPr sz="2400" b="0">
                <a:solidFill>
                  <a:srgbClr val="F5F7FF"/>
                </a:solidFill>
                <a:latin typeface="Arial"/>
                <a:ea typeface="Arial"/>
                <a:cs typeface="Arial"/>
              </a:defRPr>
            </a:pPr>
            <a:r>
              <a:rPr sz="2400" b="0">
                <a:solidFill>
                  <a:srgbClr val="F5F7FF"/>
                </a:solidFill>
                <a:latin typeface="Arial"/>
                <a:ea typeface="Arial"/>
                <a:cs typeface="Arial"/>
              </a:rPr>
              <a:t>Keeps execution away from the main website</a:t>
            </a:r>
          </a:p>
        </p:txBody>
      </p:sp>
      <p:sp>
        <p:nvSpPr>
          <p:cNvPr id="5" name="">
            <a:extLst xmlns:a="http://schemas.openxmlformats.org/drawingml/2006/main">
              <a:ext uri="{FF2B5EF4-FFF2-40B4-BE49-F238E27FC236}">
                <a16:creationId xmlns:a16="http://schemas.microsoft.com/office/drawing/2014/main" id="{BF6D32AD-6252-4B96-B925-D1B158537E81}"/>
              </a:ext>
            </a:extLst>
          </p:cNvPr>
          <p:cNvSpPr>
            <a:spLocks xmlns:a="http://schemas.openxmlformats.org/drawingml/2006/main" noGrp="1"/>
          </p:cNvSpPr>
          <p:nvPr/>
        </p:nvSpPr>
        <p:spPr>
          <a:xfrm xmlns:a="http://schemas.openxmlformats.org/drawingml/2006/main">
            <a:off x="647700" y="56388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B4C0D8"/>
                </a:solidFill>
                <a:latin typeface="Arial"/>
                <a:ea typeface="Arial"/>
                <a:cs typeface="Arial"/>
              </a:defRPr>
            </a:defPPr>
          </a:lstStyle>
          <a:p xmlns:a="http://schemas.openxmlformats.org/drawingml/2006/main">
            <a:pPr>
              <a:defRPr sz="2025" b="0">
                <a:solidFill>
                  <a:srgbClr val="B4C0D8"/>
                </a:solidFill>
                <a:latin typeface="Arial"/>
                <a:ea typeface="Arial"/>
                <a:cs typeface="Arial"/>
              </a:defRPr>
            </a:pPr>
            <a:r>
              <a:rPr sz="2025" b="0">
                <a:solidFill>
                  <a:srgbClr val="B4C0D8"/>
                </a:solidFill>
                <a:latin typeface="Arial"/>
                <a:ea typeface="Arial"/>
                <a:cs typeface="Arial"/>
              </a:rPr>
              <a:t>E2B runs code. The checker compares answers.</a:t>
            </a:r>
          </a:p>
        </p:txBody>
      </p:sp>
    </p:spTree>
    <p:extLst>
      <p:ext uri="{BB962C8B-B14F-4D97-AF65-F5344CB8AC3E}">
        <p14:creationId xmlns:p14="http://schemas.microsoft.com/office/powerpoint/2010/main" val="1414973391"/>
      </p:ext>
    </p:extLst>
  </p:cSld>
</p:sld>
</file>

<file path=ppt/slides/slide8.xml><?xml version="1.0" encoding="utf-8"?>
<p:sld xmlns:p="http://schemas.openxmlformats.org/presentationml/2006/main">
  <p:cSld>
    <p:bg>
      <p:bgPr>
        <a:solidFill xmlns:a="http://schemas.openxmlformats.org/drawingml/2006/main">
          <a:srgbClr val="080C1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ED03FD-8265-4EA6-BA44-546654F42810}"/>
              </a:ext>
            </a:extLst>
          </p:cNvPr>
          <p:cNvSpPr>
            <a:spLocks xmlns:a="http://schemas.openxmlformats.org/drawingml/2006/main" noGrp="1"/>
          </p:cNvSpPr>
          <p:nvPr/>
        </p:nvSpPr>
        <p:spPr>
          <a:xfrm xmlns:a="http://schemas.openxmlformats.org/drawingml/2006/main">
            <a:off x="647700" y="52387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5F7FF"/>
                </a:solidFill>
                <a:latin typeface="Arial"/>
                <a:ea typeface="Arial"/>
                <a:cs typeface="Arial"/>
              </a:defRPr>
            </a:defPPr>
          </a:lstStyle>
          <a:p xmlns:a="http://schemas.openxmlformats.org/drawingml/2006/main">
            <a:pPr>
              <a:defRPr sz="3600" b="1">
                <a:solidFill>
                  <a:srgbClr val="F5F7FF"/>
                </a:solidFill>
                <a:latin typeface="Arial"/>
                <a:ea typeface="Arial"/>
                <a:cs typeface="Arial"/>
              </a:defRPr>
            </a:pPr>
            <a:r>
              <a:rPr sz="3600" b="1">
                <a:solidFill>
                  <a:srgbClr val="F5F7FF"/>
                </a:solidFill>
                <a:latin typeface="Arial"/>
                <a:ea typeface="Arial"/>
                <a:cs typeface="Arial"/>
              </a:rPr>
              <a:t>AI suggests a fix and the runner checks it</a:t>
            </a:r>
          </a:p>
        </p:txBody>
      </p:sp>
      <p:sp>
        <p:nvSpPr>
          <p:cNvPr id="2" name="">
            <a:extLst xmlns:a="http://schemas.openxmlformats.org/drawingml/2006/main">
              <a:ext uri="{FF2B5EF4-FFF2-40B4-BE49-F238E27FC236}">
                <a16:creationId xmlns:a16="http://schemas.microsoft.com/office/drawing/2014/main" id="{9B5A9DF6-6721-4B02-A96B-4CF4880358F5}"/>
              </a:ext>
            </a:extLst>
          </p:cNvPr>
          <p:cNvSpPr>
            <a:spLocks xmlns:a="http://schemas.openxmlformats.org/drawingml/2006/main" noGrp="1"/>
          </p:cNvSpPr>
          <p:nvPr/>
        </p:nvSpPr>
        <p:spPr>
          <a:xfrm xmlns:a="http://schemas.openxmlformats.org/drawingml/2006/main">
            <a:off x="10953750" y="6334125"/>
            <a:ext cx="59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4C0D8"/>
                </a:solidFill>
                <a:latin typeface="Arial"/>
                <a:ea typeface="Arial"/>
                <a:cs typeface="Arial"/>
              </a:defRPr>
            </a:defPPr>
          </a:lstStyle>
          <a:p xmlns:a="http://schemas.openxmlformats.org/drawingml/2006/main">
            <a:pPr>
              <a:defRPr sz="1350" b="0">
                <a:solidFill>
                  <a:srgbClr val="B4C0D8"/>
                </a:solidFill>
                <a:latin typeface="Arial"/>
                <a:ea typeface="Arial"/>
                <a:cs typeface="Arial"/>
              </a:defRPr>
            </a:pPr>
            <a:r>
              <a:rPr sz="1350" b="0">
                <a:solidFill>
                  <a:srgbClr val="B4C0D8"/>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053C706D-1B05-4C86-8154-2B742DEE0C30}"/>
              </a:ext>
            </a:extLst>
          </p:cNvPr>
          <p:cNvSpPr>
            <a:spLocks xmlns:a="http://schemas.openxmlformats.org/drawingml/2006/main" noGrp="1"/>
          </p:cNvSpPr>
          <p:nvPr/>
        </p:nvSpPr>
        <p:spPr>
          <a:xfrm xmlns:a="http://schemas.openxmlformats.org/drawingml/2006/main">
            <a:off x="647700" y="16859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B4C0D8"/>
                </a:solidFill>
                <a:latin typeface="Arial"/>
                <a:ea typeface="Arial"/>
                <a:cs typeface="Arial"/>
              </a:defRPr>
            </a:defPPr>
          </a:lstStyle>
          <a:p xmlns:a="http://schemas.openxmlformats.org/drawingml/2006/main">
            <a:pPr>
              <a:defRPr sz="2025" b="0">
                <a:solidFill>
                  <a:srgbClr val="B4C0D8"/>
                </a:solidFill>
                <a:latin typeface="Arial"/>
                <a:ea typeface="Arial"/>
                <a:cs typeface="Arial"/>
              </a:defRPr>
            </a:pPr>
            <a:r>
              <a:rPr sz="2025" b="0">
                <a:solidFill>
                  <a:srgbClr val="B4C0D8"/>
                </a:solidFill>
                <a:latin typeface="Arial"/>
                <a:ea typeface="Arial"/>
                <a:cs typeface="Arial"/>
              </a:rPr>
              <a:t>Example change</a:t>
            </a:r>
          </a:p>
        </p:txBody>
      </p:sp>
      <p:sp>
        <p:nvSpPr>
          <p:cNvPr id="4" name="">
            <a:extLst xmlns:a="http://schemas.openxmlformats.org/drawingml/2006/main">
              <a:ext uri="{FF2B5EF4-FFF2-40B4-BE49-F238E27FC236}">
                <a16:creationId xmlns:a16="http://schemas.microsoft.com/office/drawing/2014/main" id="{D7980666-7283-4D20-9DB3-527E7CD72B6A}"/>
              </a:ext>
            </a:extLst>
          </p:cNvPr>
          <p:cNvSpPr>
            <a:spLocks xmlns:a="http://schemas.openxmlformats.org/drawingml/2006/main" noGrp="1"/>
          </p:cNvSpPr>
          <p:nvPr/>
        </p:nvSpPr>
        <p:spPr>
          <a:xfrm xmlns:a="http://schemas.openxmlformats.org/drawingml/2006/main">
            <a:off x="647700" y="22860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FF8E98"/>
                </a:solidFill>
                <a:latin typeface="Arial"/>
                <a:ea typeface="Arial"/>
                <a:cs typeface="Arial"/>
              </a:defRPr>
            </a:defPPr>
          </a:lstStyle>
          <a:p xmlns:a="http://schemas.openxmlformats.org/drawingml/2006/main">
            <a:pPr>
              <a:defRPr sz="2775" b="0">
                <a:solidFill>
                  <a:srgbClr val="FF8E98"/>
                </a:solidFill>
                <a:latin typeface="Arial"/>
                <a:ea typeface="Arial"/>
                <a:cs typeface="Arial"/>
              </a:defRPr>
            </a:pPr>
            <a:r>
              <a:rPr sz="2775" b="0">
                <a:solidFill>
                  <a:srgbClr val="FF8E98"/>
                </a:solidFill>
                <a:latin typeface="Arial"/>
                <a:ea typeface="Arial"/>
                <a:cs typeface="Arial"/>
              </a:rPr>
              <a:t>total += max(value, 0)</a:t>
            </a:r>
          </a:p>
        </p:txBody>
      </p:sp>
      <p:sp>
        <p:nvSpPr>
          <p:cNvPr id="5" name="">
            <a:extLst xmlns:a="http://schemas.openxmlformats.org/drawingml/2006/main">
              <a:ext uri="{FF2B5EF4-FFF2-40B4-BE49-F238E27FC236}">
                <a16:creationId xmlns:a16="http://schemas.microsoft.com/office/drawing/2014/main" id="{7FAF7870-2D68-47D4-9D8C-FD70C9ECCAC3}"/>
              </a:ext>
            </a:extLst>
          </p:cNvPr>
          <p:cNvSpPr>
            <a:spLocks xmlns:a="http://schemas.openxmlformats.org/drawingml/2006/main" noGrp="1"/>
          </p:cNvSpPr>
          <p:nvPr/>
        </p:nvSpPr>
        <p:spPr>
          <a:xfrm xmlns:a="http://schemas.openxmlformats.org/drawingml/2006/main">
            <a:off x="647700" y="3000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C9F500"/>
                </a:solidFill>
                <a:latin typeface="Arial"/>
                <a:ea typeface="Arial"/>
                <a:cs typeface="Arial"/>
              </a:defRPr>
            </a:defPPr>
          </a:lstStyle>
          <a:p xmlns:a="http://schemas.openxmlformats.org/drawingml/2006/main">
            <a:pPr>
              <a:defRPr sz="3150" b="1">
                <a:solidFill>
                  <a:srgbClr val="C9F500"/>
                </a:solidFill>
                <a:latin typeface="Arial"/>
                <a:ea typeface="Arial"/>
                <a:cs typeface="Arial"/>
              </a:defRPr>
            </a:pPr>
            <a:r>
              <a:rPr sz="3150" b="1">
                <a:solidFill>
                  <a:srgbClr val="C9F500"/>
                </a:solidFill>
                <a:latin typeface="Arial"/>
                <a:ea typeface="Arial"/>
                <a:cs typeface="Arial"/>
              </a:rPr>
              <a:t>total += value</a:t>
            </a:r>
          </a:p>
        </p:txBody>
      </p:sp>
      <p:pic>
        <p:nvPicPr>
          <p:cNvPr id="6" name="">
            <a:extLst xmlns:a="http://schemas.openxmlformats.org/drawingml/2006/main">
              <a:ext uri="{FF2B5EF4-FFF2-40B4-BE49-F238E27FC236}">
                <a16:creationId xmlns:a16="http://schemas.microsoft.com/office/drawing/2014/main" id="{48309670-E53C-49A5-8A25-CD599A453048}"/>
              </a:ext>
            </a:extLst>
          </p:cNvPr>
          <p:cNvPicPr>
            <a:picLocks xmlns:a="http://schemas.openxmlformats.org/drawingml/2006/main" noChangeAspect="1"/>
          </p:cNvPicPr>
          <p:nvPr/>
        </p:nvPicPr>
        <p:blipFill>
          <a:blip xmlns:r="http://schemas.openxmlformats.org/officeDocument/2006/relationships" xmlns:a="http://schemas.openxmlformats.org/drawingml/2006/main" r:embed="Rdd519feb2f824308"/>
          <a:stretch xmlns:a="http://schemas.openxmlformats.org/drawingml/2006/main"/>
        </p:blipFill>
        <p:spPr>
          <a:xfrm xmlns:a="http://schemas.openxmlformats.org/drawingml/2006/main">
            <a:off x="647700" y="4134427"/>
            <a:ext cx="10858500" cy="913246"/>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B12438D-E546-4B67-9A6C-236151648744}"/>
              </a:ext>
            </a:extLst>
          </p:cNvPr>
          <p:cNvSpPr>
            <a:spLocks xmlns:a="http://schemas.openxmlformats.org/drawingml/2006/main" noGrp="1"/>
          </p:cNvSpPr>
          <p:nvPr/>
        </p:nvSpPr>
        <p:spPr>
          <a:xfrm xmlns:a="http://schemas.openxmlformats.org/drawingml/2006/main">
            <a:off x="647700" y="54102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4C0D8"/>
                </a:solidFill>
                <a:latin typeface="Arial"/>
                <a:ea typeface="Arial"/>
                <a:cs typeface="Arial"/>
              </a:defRPr>
            </a:defPPr>
          </a:lstStyle>
          <a:p xmlns:a="http://schemas.openxmlformats.org/drawingml/2006/main">
            <a:pPr>
              <a:defRPr sz="1875" b="0">
                <a:solidFill>
                  <a:srgbClr val="B4C0D8"/>
                </a:solidFill>
                <a:latin typeface="Arial"/>
                <a:ea typeface="Arial"/>
                <a:cs typeface="Arial"/>
              </a:defRPr>
            </a:pPr>
            <a:r>
              <a:rPr sz="1875" b="0">
                <a:solidFill>
                  <a:srgbClr val="B4C0D8"/>
                </a:solidFill>
                <a:latin typeface="Arial"/>
                <a:ea typeface="Arial"/>
                <a:cs typeface="Arial"/>
              </a:rPr>
              <a:t>Earlier live demo: 5 of 5 supplied tests passed.</a:t>
            </a:r>
          </a:p>
          <a:p xmlns:a="http://schemas.openxmlformats.org/drawingml/2006/main">
            <a:pPr>
              <a:defRPr sz="1875" b="0">
                <a:solidFill>
                  <a:srgbClr val="B4C0D8"/>
                </a:solidFill>
                <a:latin typeface="Arial"/>
                <a:ea typeface="Arial"/>
                <a:cs typeface="Arial"/>
              </a:defRPr>
            </a:pPr>
            <a:r>
              <a:rPr sz="1875" b="0">
                <a:solidFill>
                  <a:srgbClr val="B4C0D8"/>
                </a:solidFill>
                <a:latin typeface="Arial"/>
                <a:ea typeface="Arial"/>
                <a:cs typeface="Arial"/>
              </a:rPr>
              <a:t>Passing these tests does not prove every input works.</a:t>
            </a:r>
          </a:p>
        </p:txBody>
      </p:sp>
    </p:spTree>
    <p:extLst>
      <p:ext uri="{BB962C8B-B14F-4D97-AF65-F5344CB8AC3E}">
        <p14:creationId xmlns:p14="http://schemas.microsoft.com/office/powerpoint/2010/main" val="1905127328"/>
      </p:ext>
    </p:extLst>
  </p:cSld>
</p:sld>
</file>

<file path=ppt/slides/slide9.xml><?xml version="1.0" encoding="utf-8"?>
<p:sld xmlns:p="http://schemas.openxmlformats.org/presentationml/2006/main">
  <p:cSld>
    <p:bg>
      <p:bgPr>
        <a:solidFill xmlns:a="http://schemas.openxmlformats.org/drawingml/2006/main">
          <a:srgbClr val="080C1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06893B-174C-4D5A-BC27-9F9FB9F406D6}"/>
              </a:ext>
            </a:extLst>
          </p:cNvPr>
          <p:cNvSpPr>
            <a:spLocks xmlns:a="http://schemas.openxmlformats.org/drawingml/2006/main" noGrp="1"/>
          </p:cNvSpPr>
          <p:nvPr/>
        </p:nvSpPr>
        <p:spPr>
          <a:xfrm xmlns:a="http://schemas.openxmlformats.org/drawingml/2006/main">
            <a:off x="647700" y="52387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5F7FF"/>
                </a:solidFill>
                <a:latin typeface="Arial"/>
                <a:ea typeface="Arial"/>
                <a:cs typeface="Arial"/>
              </a:defRPr>
            </a:defPPr>
          </a:lstStyle>
          <a:p xmlns:a="http://schemas.openxmlformats.org/drawingml/2006/main">
            <a:pPr>
              <a:defRPr sz="3600" b="1">
                <a:solidFill>
                  <a:srgbClr val="F5F7FF"/>
                </a:solidFill>
                <a:latin typeface="Arial"/>
                <a:ea typeface="Arial"/>
                <a:cs typeface="Arial"/>
              </a:defRPr>
            </a:pPr>
            <a:r>
              <a:rPr sz="3600" b="1">
                <a:solidFill>
                  <a:srgbClr val="F5F7FF"/>
                </a:solidFill>
                <a:latin typeface="Arial"/>
                <a:ea typeface="Arial"/>
                <a:cs typeface="Arial"/>
              </a:rPr>
              <a:t>No reference solution yet</a:t>
            </a:r>
          </a:p>
        </p:txBody>
      </p:sp>
      <p:sp>
        <p:nvSpPr>
          <p:cNvPr id="2" name="">
            <a:extLst xmlns:a="http://schemas.openxmlformats.org/drawingml/2006/main">
              <a:ext uri="{FF2B5EF4-FFF2-40B4-BE49-F238E27FC236}">
                <a16:creationId xmlns:a16="http://schemas.microsoft.com/office/drawing/2014/main" id="{FB329046-84CF-42DC-A0A0-A7BE0D9BB0E2}"/>
              </a:ext>
            </a:extLst>
          </p:cNvPr>
          <p:cNvSpPr>
            <a:spLocks xmlns:a="http://schemas.openxmlformats.org/drawingml/2006/main" noGrp="1"/>
          </p:cNvSpPr>
          <p:nvPr/>
        </p:nvSpPr>
        <p:spPr>
          <a:xfrm xmlns:a="http://schemas.openxmlformats.org/drawingml/2006/main">
            <a:off x="10953750" y="6334125"/>
            <a:ext cx="59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4C0D8"/>
                </a:solidFill>
                <a:latin typeface="Arial"/>
                <a:ea typeface="Arial"/>
                <a:cs typeface="Arial"/>
              </a:defRPr>
            </a:defPPr>
          </a:lstStyle>
          <a:p xmlns:a="http://schemas.openxmlformats.org/drawingml/2006/main">
            <a:pPr>
              <a:defRPr sz="1350" b="0">
                <a:solidFill>
                  <a:srgbClr val="B4C0D8"/>
                </a:solidFill>
                <a:latin typeface="Arial"/>
                <a:ea typeface="Arial"/>
                <a:cs typeface="Arial"/>
              </a:defRPr>
            </a:pPr>
            <a:r>
              <a:rPr sz="1350" b="0">
                <a:solidFill>
                  <a:srgbClr val="B4C0D8"/>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AF7990CF-E387-4AE8-A39F-35546D2A6D2F}"/>
              </a:ext>
            </a:extLst>
          </p:cNvPr>
          <p:cNvSpPr>
            <a:spLocks xmlns:a="http://schemas.openxmlformats.org/drawingml/2006/main" noGrp="1"/>
          </p:cNvSpPr>
          <p:nvPr/>
        </p:nvSpPr>
        <p:spPr>
          <a:xfrm xmlns:a="http://schemas.openxmlformats.org/drawingml/2006/main">
            <a:off x="647700" y="175260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C9F500"/>
                </a:solidFill>
                <a:latin typeface="Arial"/>
                <a:ea typeface="Arial"/>
                <a:cs typeface="Arial"/>
              </a:defRPr>
            </a:defPPr>
          </a:lstStyle>
          <a:p xmlns:a="http://schemas.openxmlformats.org/drawingml/2006/main">
            <a:pPr>
              <a:defRPr sz="3000" b="1">
                <a:solidFill>
                  <a:srgbClr val="C9F500"/>
                </a:solidFill>
                <a:latin typeface="Arial"/>
                <a:ea typeface="Arial"/>
                <a:cs typeface="Arial"/>
              </a:defRPr>
            </a:pPr>
            <a:r>
              <a:rPr sz="3000" b="1">
                <a:solidFill>
                  <a:srgbClr val="C9F500"/>
                </a:solidFill>
                <a:latin typeface="Arial"/>
                <a:ea typeface="Arial"/>
                <a:cs typeface="Arial"/>
              </a:rPr>
              <a:t>AI can write a candidate from the problem.</a:t>
            </a:r>
          </a:p>
        </p:txBody>
      </p:sp>
      <p:sp>
        <p:nvSpPr>
          <p:cNvPr id="4" name="">
            <a:extLst xmlns:a="http://schemas.openxmlformats.org/drawingml/2006/main">
              <a:ext uri="{FF2B5EF4-FFF2-40B4-BE49-F238E27FC236}">
                <a16:creationId xmlns:a16="http://schemas.microsoft.com/office/drawing/2014/main" id="{E17B205B-D4A4-4E04-8A32-B2ED3D7DCFE4}"/>
              </a:ext>
            </a:extLst>
          </p:cNvPr>
          <p:cNvSpPr>
            <a:spLocks xmlns:a="http://schemas.openxmlformats.org/drawingml/2006/main" noGrp="1"/>
          </p:cNvSpPr>
          <p:nvPr/>
        </p:nvSpPr>
        <p:spPr>
          <a:xfrm xmlns:a="http://schemas.openxmlformats.org/drawingml/2006/main">
            <a:off x="647700" y="3057525"/>
            <a:ext cx="10763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5F7FF"/>
                </a:solidFill>
                <a:latin typeface="Arial"/>
                <a:ea typeface="Arial"/>
                <a:cs typeface="Arial"/>
              </a:defRPr>
            </a:defPPr>
          </a:lstStyle>
          <a:p xmlns:a="http://schemas.openxmlformats.org/drawingml/2006/main">
            <a:pPr>
              <a:defRPr sz="2325" b="0">
                <a:solidFill>
                  <a:srgbClr val="F5F7FF"/>
                </a:solidFill>
                <a:latin typeface="Arial"/>
                <a:ea typeface="Arial"/>
                <a:cs typeface="Arial"/>
              </a:defRPr>
            </a:pPr>
            <a:r>
              <a:rPr sz="2325" b="0">
                <a:solidFill>
                  <a:srgbClr val="F5F7FF"/>
                </a:solidFill>
                <a:latin typeface="Arial"/>
                <a:ea typeface="Arial"/>
                <a:cs typeface="Arial"/>
              </a:rPr>
              <a:t>1. Add the full problem and known examples.</a:t>
            </a:r>
          </a:p>
          <a:p xmlns:a="http://schemas.openxmlformats.org/drawingml/2006/main">
            <a:pPr>
              <a:defRPr sz="2325" b="0">
                <a:solidFill>
                  <a:srgbClr val="F5F7FF"/>
                </a:solidFill>
                <a:latin typeface="Arial"/>
                <a:ea typeface="Arial"/>
                <a:cs typeface="Arial"/>
              </a:defRPr>
            </a:pPr>
            <a:r>
              <a:rPr sz="2325" b="0">
                <a:solidFill>
                  <a:srgbClr val="F5F7FF"/>
                </a:solidFill>
                <a:latin typeface="Arial"/>
                <a:ea typeface="Arial"/>
                <a:cs typeface="Arial"/>
              </a:rPr>
              <a:t>2. Generate the reference solution.</a:t>
            </a:r>
          </a:p>
          <a:p xmlns:a="http://schemas.openxmlformats.org/drawingml/2006/main">
            <a:pPr>
              <a:defRPr sz="2325" b="0">
                <a:solidFill>
                  <a:srgbClr val="F5F7FF"/>
                </a:solidFill>
                <a:latin typeface="Arial"/>
                <a:ea typeface="Arial"/>
                <a:cs typeface="Arial"/>
              </a:defRPr>
            </a:pPr>
            <a:r>
              <a:rPr sz="2325" b="0">
                <a:solidFill>
                  <a:srgbClr val="F5F7FF"/>
                </a:solidFill>
                <a:latin typeface="Arial"/>
                <a:ea typeface="Arial"/>
                <a:cs typeface="Arial"/>
              </a:rPr>
              <a:t>3. The runner checks the known answers.</a:t>
            </a:r>
          </a:p>
          <a:p xmlns:a="http://schemas.openxmlformats.org/drawingml/2006/main">
            <a:pPr>
              <a:defRPr sz="2325" b="0">
                <a:solidFill>
                  <a:srgbClr val="F5F7FF"/>
                </a:solidFill>
                <a:latin typeface="Arial"/>
                <a:ea typeface="Arial"/>
                <a:cs typeface="Arial"/>
              </a:defRPr>
            </a:pPr>
            <a:r>
              <a:rPr sz="2325" b="0">
                <a:solidFill>
                  <a:srgbClr val="F5F7FF"/>
                </a:solidFill>
                <a:latin typeface="Arial"/>
                <a:ea typeface="Arial"/>
                <a:cs typeface="Arial"/>
              </a:rPr>
              <a:t>4. Use it if those checks pass.</a:t>
            </a:r>
          </a:p>
        </p:txBody>
      </p:sp>
      <p:sp>
        <p:nvSpPr>
          <p:cNvPr id="5" name="">
            <a:extLst xmlns:a="http://schemas.openxmlformats.org/drawingml/2006/main">
              <a:ext uri="{FF2B5EF4-FFF2-40B4-BE49-F238E27FC236}">
                <a16:creationId xmlns:a16="http://schemas.microsoft.com/office/drawing/2014/main" id="{5FA46F4E-3A27-4014-81D6-8595850AEEBA}"/>
              </a:ext>
            </a:extLst>
          </p:cNvPr>
          <p:cNvSpPr>
            <a:spLocks xmlns:a="http://schemas.openxmlformats.org/drawingml/2006/main" noGrp="1"/>
          </p:cNvSpPr>
          <p:nvPr/>
        </p:nvSpPr>
        <p:spPr>
          <a:xfrm xmlns:a="http://schemas.openxmlformats.org/drawingml/2006/main">
            <a:off x="647700" y="57054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4C0D8"/>
                </a:solidFill>
                <a:latin typeface="Arial"/>
                <a:ea typeface="Arial"/>
                <a:cs typeface="Arial"/>
              </a:defRPr>
            </a:defPPr>
          </a:lstStyle>
          <a:p xmlns:a="http://schemas.openxmlformats.org/drawingml/2006/main">
            <a:pPr>
              <a:defRPr sz="1950" b="0">
                <a:solidFill>
                  <a:srgbClr val="B4C0D8"/>
                </a:solidFill>
                <a:latin typeface="Arial"/>
                <a:ea typeface="Arial"/>
                <a:cs typeface="Arial"/>
              </a:defRPr>
            </a:pPr>
            <a:r>
              <a:rPr sz="1950" b="0">
                <a:solidFill>
                  <a:srgbClr val="B4C0D8"/>
                </a:solidFill>
                <a:latin typeface="Arial"/>
                <a:ea typeface="Arial"/>
                <a:cs typeface="Arial"/>
              </a:rPr>
              <a:t>The candidate may still contain mistakes on other inputs.</a:t>
            </a:r>
          </a:p>
        </p:txBody>
      </p:sp>
    </p:spTree>
    <p:extLst>
      <p:ext uri="{BB962C8B-B14F-4D97-AF65-F5344CB8AC3E}">
        <p14:creationId xmlns:p14="http://schemas.microsoft.com/office/powerpoint/2010/main" val="581424654"/>
      </p:ext>
    </p:extLst>
  </p:cSld>
</p:sld>
</file>

<file path=ppt/slides/slide10.xml><?xml version="1.0" encoding="utf-8"?>
<p:sld xmlns:p="http://schemas.openxmlformats.org/presentationml/2006/main">
  <p:cSld>
    <p:bg>
      <p:bgPr>
        <a:solidFill xmlns:a="http://schemas.openxmlformats.org/drawingml/2006/main">
          <a:srgbClr val="080C1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7FA8AF0-05AC-4F28-86F6-384ABF0538DA}"/>
              </a:ext>
            </a:extLst>
          </p:cNvPr>
          <p:cNvSpPr>
            <a:spLocks xmlns:a="http://schemas.openxmlformats.org/drawingml/2006/main" noGrp="1"/>
          </p:cNvSpPr>
          <p:nvPr/>
        </p:nvSpPr>
        <p:spPr>
          <a:xfrm xmlns:a="http://schemas.openxmlformats.org/drawingml/2006/main">
            <a:off x="647700" y="52387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5F7FF"/>
                </a:solidFill>
                <a:latin typeface="Arial"/>
                <a:ea typeface="Arial"/>
                <a:cs typeface="Arial"/>
              </a:defRPr>
            </a:defPPr>
          </a:lstStyle>
          <a:p xmlns:a="http://schemas.openxmlformats.org/drawingml/2006/main">
            <a:pPr>
              <a:defRPr sz="3600" b="1">
                <a:solidFill>
                  <a:srgbClr val="F5F7FF"/>
                </a:solidFill>
                <a:latin typeface="Arial"/>
                <a:ea typeface="Arial"/>
                <a:cs typeface="Arial"/>
              </a:defRPr>
            </a:pPr>
            <a:r>
              <a:rPr sz="3600" b="1">
                <a:solidFill>
                  <a:srgbClr val="F5F7FF"/>
                </a:solidFill>
                <a:latin typeface="Arial"/>
                <a:ea typeface="Arial"/>
                <a:cs typeface="Arial"/>
              </a:rPr>
              <a:t>How we differ from AI chat</a:t>
            </a:r>
          </a:p>
        </p:txBody>
      </p:sp>
      <p:sp>
        <p:nvSpPr>
          <p:cNvPr id="2" name="">
            <a:extLst xmlns:a="http://schemas.openxmlformats.org/drawingml/2006/main">
              <a:ext uri="{FF2B5EF4-FFF2-40B4-BE49-F238E27FC236}">
                <a16:creationId xmlns:a16="http://schemas.microsoft.com/office/drawing/2014/main" id="{B64BCD53-391B-4A36-92AD-46F11251D5D2}"/>
              </a:ext>
            </a:extLst>
          </p:cNvPr>
          <p:cNvSpPr>
            <a:spLocks xmlns:a="http://schemas.openxmlformats.org/drawingml/2006/main" noGrp="1"/>
          </p:cNvSpPr>
          <p:nvPr/>
        </p:nvSpPr>
        <p:spPr>
          <a:xfrm xmlns:a="http://schemas.openxmlformats.org/drawingml/2006/main">
            <a:off x="10953750" y="6334125"/>
            <a:ext cx="59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4C0D8"/>
                </a:solidFill>
                <a:latin typeface="Arial"/>
                <a:ea typeface="Arial"/>
                <a:cs typeface="Arial"/>
              </a:defRPr>
            </a:defPPr>
          </a:lstStyle>
          <a:p xmlns:a="http://schemas.openxmlformats.org/drawingml/2006/main">
            <a:pPr>
              <a:defRPr sz="1350" b="0">
                <a:solidFill>
                  <a:srgbClr val="B4C0D8"/>
                </a:solidFill>
                <a:latin typeface="Arial"/>
                <a:ea typeface="Arial"/>
                <a:cs typeface="Arial"/>
              </a:defRPr>
            </a:pPr>
            <a:r>
              <a:rPr sz="1350" b="0">
                <a:solidFill>
                  <a:srgbClr val="B4C0D8"/>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1D5373B1-BE01-46B9-8084-2B1171F1E638}"/>
              </a:ext>
            </a:extLst>
          </p:cNvPr>
          <p:cNvGraphicFramePr/>
          <p:nvPr/>
        </p:nvGraphicFramePr>
        <p:xfrm>
          <a:off xmlns:a="http://schemas.openxmlformats.org/drawingml/2006/main" x="647700" y="1685925"/>
          <a:ext xmlns:a="http://schemas.openxmlformats.org/drawingml/2006/main" cx="10858500" cy="3486150"/>
        </p:xfrm>
        <a:graphic xmlns:a="http://schemas.openxmlformats.org/drawingml/2006/main">
          <a:graphicData uri="http://schemas.openxmlformats.org/drawingml/2006/table">
            <a:tbl>
              <a:tblPr/>
              <a:tblGrid>
                <a:gridCol w="2762250"/>
                <a:gridCol w="3857625"/>
                <a:gridCol w="4238625"/>
              </a:tblGrid>
              <a:tr h="628650">
                <a:tc>
                  <a:txBody>
                    <a:bodyPr/>
                    <a:lstStyle/>
                    <a:p>
                      <a:r>
                        <a:rPr sz="1950" b="1">
                          <a:solidFill>
                            <a:srgbClr val="F5F7FF"/>
                          </a:solidFill>
                          <a:latin typeface="Arial"/>
                          <a:ea typeface="Arial"/>
                          <a:cs typeface="Arial"/>
                        </a:rPr>
                        <a:t>Question</a:t>
                      </a:r>
                    </a:p>
                  </a:txBody>
                  <a:tcPr marL="91440" marR="91440" marT="45720" marB="45720">
                    <a:solidFill>
                      <a:srgbClr val="254BCB"/>
                    </a:solidFill>
                  </a:tcPr>
                </a:tc>
                <a:tc>
                  <a:txBody>
                    <a:bodyPr/>
                    <a:lstStyle/>
                    <a:p>
                      <a:r>
                        <a:rPr sz="1950" b="1">
                          <a:solidFill>
                            <a:srgbClr val="F5F7FF"/>
                          </a:solidFill>
                          <a:latin typeface="Arial"/>
                          <a:ea typeface="Arial"/>
                          <a:cs typeface="Arial"/>
                        </a:rPr>
                        <a:t>A text-only AI reply</a:t>
                      </a:r>
                    </a:p>
                  </a:txBody>
                  <a:tcPr marL="91440" marR="91440" marT="45720" marB="45720">
                    <a:solidFill>
                      <a:srgbClr val="254BCB"/>
                    </a:solidFill>
                  </a:tcPr>
                </a:tc>
                <a:tc>
                  <a:txBody>
                    <a:bodyPr/>
                    <a:lstStyle/>
                    <a:p>
                      <a:r>
                        <a:rPr sz="1950" b="1">
                          <a:solidFill>
                            <a:srgbClr val="F5F7FF"/>
                          </a:solidFill>
                          <a:latin typeface="Arial"/>
                          <a:ea typeface="Arial"/>
                          <a:cs typeface="Arial"/>
                        </a:rPr>
                        <a:t>CaseCracker</a:t>
                      </a:r>
                    </a:p>
                  </a:txBody>
                  <a:tcPr marL="91440" marR="91440" marT="45720" marB="45720">
                    <a:solidFill>
                      <a:srgbClr val="254BCB"/>
                    </a:solidFill>
                  </a:tcPr>
                </a:tc>
              </a:tr>
              <a:tr h="714375">
                <a:tc>
                  <a:txBody>
                    <a:bodyPr/>
                    <a:lstStyle/>
                    <a:p>
                      <a:r>
                        <a:rPr sz="1950" b="0">
                          <a:solidFill>
                            <a:srgbClr val="F5F7FF"/>
                          </a:solidFill>
                          <a:latin typeface="Arial"/>
                          <a:ea typeface="Arial"/>
                          <a:cs typeface="Arial"/>
                        </a:rPr>
                        <a:t>What will happen?</a:t>
                      </a:r>
                    </a:p>
                  </a:txBody>
                  <a:tcPr marL="91440" marR="91440" marT="45720" marB="45720">
                    <a:solidFill>
                      <a:srgbClr val="111B2F"/>
                    </a:solidFill>
                  </a:tcPr>
                </a:tc>
                <a:tc>
                  <a:txBody>
                    <a:bodyPr/>
                    <a:lstStyle/>
                    <a:p>
                      <a:r>
                        <a:rPr sz="1950" b="0">
                          <a:solidFill>
                            <a:srgbClr val="F5F7FF"/>
                          </a:solidFill>
                          <a:latin typeface="Arial"/>
                          <a:ea typeface="Arial"/>
                          <a:cs typeface="Arial"/>
                        </a:rPr>
                        <a:t>Predicts the result</a:t>
                      </a:r>
                    </a:p>
                  </a:txBody>
                  <a:tcPr marL="91440" marR="91440" marT="45720" marB="45720">
                    <a:solidFill>
                      <a:srgbClr val="111B2F"/>
                    </a:solidFill>
                  </a:tcPr>
                </a:tc>
                <a:tc>
                  <a:txBody>
                    <a:bodyPr/>
                    <a:lstStyle/>
                    <a:p>
                      <a:r>
                        <a:rPr sz="1950" b="0">
                          <a:solidFill>
                            <a:srgbClr val="F5F7FF"/>
                          </a:solidFill>
                          <a:latin typeface="Arial"/>
                          <a:ea typeface="Arial"/>
                          <a:cs typeface="Arial"/>
                        </a:rPr>
                        <a:t>Runs the code</a:t>
                      </a:r>
                    </a:p>
                  </a:txBody>
                  <a:tcPr marL="91440" marR="91440" marT="45720" marB="45720">
                    <a:solidFill>
                      <a:srgbClr val="111B2F"/>
                    </a:solidFill>
                  </a:tcPr>
                </a:tc>
              </a:tr>
              <a:tr h="714375">
                <a:tc>
                  <a:txBody>
                    <a:bodyPr/>
                    <a:lstStyle/>
                    <a:p>
                      <a:r>
                        <a:rPr sz="1950" b="0">
                          <a:solidFill>
                            <a:srgbClr val="F5F7FF"/>
                          </a:solidFill>
                          <a:latin typeface="Arial"/>
                          <a:ea typeface="Arial"/>
                          <a:cs typeface="Arial"/>
                        </a:rPr>
                        <a:t>Which input fails?</a:t>
                      </a:r>
                    </a:p>
                  </a:txBody>
                  <a:tcPr marL="91440" marR="91440" marT="45720" marB="45720">
                    <a:solidFill>
                      <a:srgbClr val="0C1425"/>
                    </a:solidFill>
                  </a:tcPr>
                </a:tc>
                <a:tc>
                  <a:txBody>
                    <a:bodyPr/>
                    <a:lstStyle/>
                    <a:p>
                      <a:r>
                        <a:rPr sz="1950" b="0">
                          <a:solidFill>
                            <a:srgbClr val="F5F7FF"/>
                          </a:solidFill>
                          <a:latin typeface="Arial"/>
                          <a:ea typeface="Arial"/>
                          <a:cs typeface="Arial"/>
                        </a:rPr>
                        <a:t>Suggests an input</a:t>
                      </a:r>
                    </a:p>
                  </a:txBody>
                  <a:tcPr marL="91440" marR="91440" marT="45720" marB="45720">
                    <a:solidFill>
                      <a:srgbClr val="0C1425"/>
                    </a:solidFill>
                  </a:tcPr>
                </a:tc>
                <a:tc>
                  <a:txBody>
                    <a:bodyPr/>
                    <a:lstStyle/>
                    <a:p>
                      <a:r>
                        <a:rPr sz="1950" b="0">
                          <a:solidFill>
                            <a:srgbClr val="F5F7FF"/>
                          </a:solidFill>
                          <a:latin typeface="Arial"/>
                          <a:ea typeface="Arial"/>
                          <a:cs typeface="Arial"/>
                        </a:rPr>
                        <a:t>Reproduces a failure</a:t>
                      </a:r>
                    </a:p>
                  </a:txBody>
                  <a:tcPr marL="91440" marR="91440" marT="45720" marB="45720">
                    <a:solidFill>
                      <a:srgbClr val="0C1425"/>
                    </a:solidFill>
                  </a:tcPr>
                </a:tc>
              </a:tr>
              <a:tr h="714375">
                <a:tc>
                  <a:txBody>
                    <a:bodyPr/>
                    <a:lstStyle/>
                    <a:p>
                      <a:r>
                        <a:rPr sz="1950" b="0">
                          <a:solidFill>
                            <a:srgbClr val="F5F7FF"/>
                          </a:solidFill>
                          <a:latin typeface="Arial"/>
                          <a:ea typeface="Arial"/>
                          <a:cs typeface="Arial"/>
                        </a:rPr>
                        <a:t>Why did it fail?</a:t>
                      </a:r>
                    </a:p>
                  </a:txBody>
                  <a:tcPr marL="91440" marR="91440" marT="45720" marB="45720">
                    <a:solidFill>
                      <a:srgbClr val="111B2F"/>
                    </a:solidFill>
                  </a:tcPr>
                </a:tc>
                <a:tc>
                  <a:txBody>
                    <a:bodyPr/>
                    <a:lstStyle/>
                    <a:p>
                      <a:r>
                        <a:rPr sz="1950" b="0">
                          <a:solidFill>
                            <a:srgbClr val="F5F7FF"/>
                          </a:solidFill>
                          <a:latin typeface="Arial"/>
                          <a:ea typeface="Arial"/>
                          <a:cs typeface="Arial"/>
                        </a:rPr>
                        <a:t>Explains from the code</a:t>
                      </a:r>
                    </a:p>
                  </a:txBody>
                  <a:tcPr marL="91440" marR="91440" marT="45720" marB="45720">
                    <a:solidFill>
                      <a:srgbClr val="111B2F"/>
                    </a:solidFill>
                  </a:tcPr>
                </a:tc>
                <a:tc>
                  <a:txBody>
                    <a:bodyPr/>
                    <a:lstStyle/>
                    <a:p>
                      <a:r>
                        <a:rPr sz="1950" b="0">
                          <a:solidFill>
                            <a:srgbClr val="F5F7FF"/>
                          </a:solidFill>
                          <a:latin typeface="Arial"/>
                          <a:ea typeface="Arial"/>
                          <a:cs typeface="Arial"/>
                        </a:rPr>
                        <a:t>Also shows recorded states</a:t>
                      </a:r>
                    </a:p>
                  </a:txBody>
                  <a:tcPr marL="91440" marR="91440" marT="45720" marB="45720">
                    <a:solidFill>
                      <a:srgbClr val="111B2F"/>
                    </a:solidFill>
                  </a:tcPr>
                </a:tc>
              </a:tr>
              <a:tr h="714375">
                <a:tc>
                  <a:txBody>
                    <a:bodyPr/>
                    <a:lstStyle/>
                    <a:p>
                      <a:r>
                        <a:rPr sz="1950" b="0">
                          <a:solidFill>
                            <a:srgbClr val="F5F7FF"/>
                          </a:solidFill>
                          <a:latin typeface="Arial"/>
                          <a:ea typeface="Arial"/>
                          <a:cs typeface="Arial"/>
                        </a:rPr>
                        <a:t>Does the fix work?</a:t>
                      </a:r>
                    </a:p>
                  </a:txBody>
                  <a:tcPr marL="91440" marR="91440" marT="45720" marB="45720">
                    <a:solidFill>
                      <a:srgbClr val="0C1425"/>
                    </a:solidFill>
                  </a:tcPr>
                </a:tc>
                <a:tc>
                  <a:txBody>
                    <a:bodyPr/>
                    <a:lstStyle/>
                    <a:p>
                      <a:r>
                        <a:rPr sz="1950" b="0">
                          <a:solidFill>
                            <a:srgbClr val="F5F7FF"/>
                          </a:solidFill>
                          <a:latin typeface="Arial"/>
                          <a:ea typeface="Arial"/>
                          <a:cs typeface="Arial"/>
                        </a:rPr>
                        <a:t>Suggests a change</a:t>
                      </a:r>
                    </a:p>
                  </a:txBody>
                  <a:tcPr marL="91440" marR="91440" marT="45720" marB="45720">
                    <a:solidFill>
                      <a:srgbClr val="0C1425"/>
                    </a:solidFill>
                  </a:tcPr>
                </a:tc>
                <a:tc>
                  <a:txBody>
                    <a:bodyPr/>
                    <a:lstStyle/>
                    <a:p>
                      <a:r>
                        <a:rPr sz="1950" b="0">
                          <a:solidFill>
                            <a:srgbClr val="F5F7FF"/>
                          </a:solidFill>
                          <a:latin typeface="Arial"/>
                          <a:ea typeface="Arial"/>
                          <a:cs typeface="Arial"/>
                        </a:rPr>
                        <a:t>Checks supplied tests</a:t>
                      </a:r>
                    </a:p>
                  </a:txBody>
                  <a:tcPr marL="91440" marR="91440" marT="45720" marB="45720">
                    <a:solidFill>
                      <a:srgbClr val="0C1425"/>
                    </a:solidFill>
                  </a:tcPr>
                </a:tc>
              </a:tr>
            </a:tbl>
          </a:graphicData>
        </a:graphic>
      </p:graphicFrame>
      <p:sp>
        <p:nvSpPr>
          <p:cNvPr id="4" name="">
            <a:extLst xmlns:a="http://schemas.openxmlformats.org/drawingml/2006/main">
              <a:ext uri="{FF2B5EF4-FFF2-40B4-BE49-F238E27FC236}">
                <a16:creationId xmlns:a16="http://schemas.microsoft.com/office/drawing/2014/main" id="{77EEA8AE-BBBB-4282-8539-1E3294A0A690}"/>
              </a:ext>
            </a:extLst>
          </p:cNvPr>
          <p:cNvSpPr>
            <a:spLocks xmlns:a="http://schemas.openxmlformats.org/drawingml/2006/main" noGrp="1"/>
          </p:cNvSpPr>
          <p:nvPr/>
        </p:nvSpPr>
        <p:spPr>
          <a:xfrm xmlns:a="http://schemas.openxmlformats.org/drawingml/2006/main">
            <a:off x="647700" y="57912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4C0D8"/>
                </a:solidFill>
                <a:latin typeface="Arial"/>
                <a:ea typeface="Arial"/>
                <a:cs typeface="Arial"/>
              </a:defRPr>
            </a:defPPr>
          </a:lstStyle>
          <a:p xmlns:a="http://schemas.openxmlformats.org/drawingml/2006/main">
            <a:pPr>
              <a:defRPr sz="1875" b="0">
                <a:solidFill>
                  <a:srgbClr val="B4C0D8"/>
                </a:solidFill>
                <a:latin typeface="Arial"/>
                <a:ea typeface="Arial"/>
                <a:cs typeface="Arial"/>
              </a:defRPr>
            </a:pPr>
            <a:r>
              <a:rPr sz="1875" b="0">
                <a:solidFill>
                  <a:srgbClr val="B4C0D8"/>
                </a:solidFill>
                <a:latin typeface="Arial"/>
                <a:ea typeface="Arial"/>
                <a:cs typeface="Arial"/>
              </a:rPr>
              <a:t>Other AI tools can also run code. Our value is the complete debugging workflow.</a:t>
            </a:r>
          </a:p>
        </p:txBody>
      </p:sp>
    </p:spTree>
    <p:extLst>
      <p:ext uri="{BB962C8B-B14F-4D97-AF65-F5344CB8AC3E}">
        <p14:creationId xmlns:p14="http://schemas.microsoft.com/office/powerpoint/2010/main" val="1670877536"/>
      </p:ext>
    </p:extLst>
  </p:cSld>
</p:sld>
</file>

<file path=ppt/slides/slide11.xml><?xml version="1.0" encoding="utf-8"?>
<p:sld xmlns:p="http://schemas.openxmlformats.org/presentationml/2006/main">
  <p:cSld>
    <p:bg>
      <p:bgPr>
        <a:solidFill xmlns:a="http://schemas.openxmlformats.org/drawingml/2006/main">
          <a:srgbClr val="080C1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2C2BCD6-0725-4AE2-A7DE-91FA950C9BD3}"/>
              </a:ext>
            </a:extLst>
          </p:cNvPr>
          <p:cNvSpPr>
            <a:spLocks xmlns:a="http://schemas.openxmlformats.org/drawingml/2006/main" noGrp="1"/>
          </p:cNvSpPr>
          <p:nvPr/>
        </p:nvSpPr>
        <p:spPr>
          <a:xfrm xmlns:a="http://schemas.openxmlformats.org/drawingml/2006/main">
            <a:off x="647700" y="52387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5F7FF"/>
                </a:solidFill>
                <a:latin typeface="Arial"/>
                <a:ea typeface="Arial"/>
                <a:cs typeface="Arial"/>
              </a:defRPr>
            </a:defPPr>
          </a:lstStyle>
          <a:p xmlns:a="http://schemas.openxmlformats.org/drawingml/2006/main">
            <a:pPr>
              <a:defRPr sz="3600" b="1">
                <a:solidFill>
                  <a:srgbClr val="F5F7FF"/>
                </a:solidFill>
                <a:latin typeface="Arial"/>
                <a:ea typeface="Arial"/>
                <a:cs typeface="Arial"/>
              </a:defRPr>
            </a:pPr>
            <a:r>
              <a:rPr sz="3600" b="1">
                <a:solidFill>
                  <a:srgbClr val="F5F7FF"/>
                </a:solidFill>
                <a:latin typeface="Arial"/>
                <a:ea typeface="Arial"/>
                <a:cs typeface="Arial"/>
              </a:rPr>
              <a:t>Live demo</a:t>
            </a:r>
          </a:p>
        </p:txBody>
      </p:sp>
      <p:sp>
        <p:nvSpPr>
          <p:cNvPr id="2" name="">
            <a:extLst xmlns:a="http://schemas.openxmlformats.org/drawingml/2006/main">
              <a:ext uri="{FF2B5EF4-FFF2-40B4-BE49-F238E27FC236}">
                <a16:creationId xmlns:a16="http://schemas.microsoft.com/office/drawing/2014/main" id="{F2B93915-4A72-4C0E-B687-E5B39195483B}"/>
              </a:ext>
            </a:extLst>
          </p:cNvPr>
          <p:cNvSpPr>
            <a:spLocks xmlns:a="http://schemas.openxmlformats.org/drawingml/2006/main" noGrp="1"/>
          </p:cNvSpPr>
          <p:nvPr/>
        </p:nvSpPr>
        <p:spPr>
          <a:xfrm xmlns:a="http://schemas.openxmlformats.org/drawingml/2006/main">
            <a:off x="10953750" y="6334125"/>
            <a:ext cx="59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4C0D8"/>
                </a:solidFill>
                <a:latin typeface="Arial"/>
                <a:ea typeface="Arial"/>
                <a:cs typeface="Arial"/>
              </a:defRPr>
            </a:defPPr>
          </a:lstStyle>
          <a:p xmlns:a="http://schemas.openxmlformats.org/drawingml/2006/main">
            <a:pPr>
              <a:defRPr sz="1350" b="0">
                <a:solidFill>
                  <a:srgbClr val="B4C0D8"/>
                </a:solidFill>
                <a:latin typeface="Arial"/>
                <a:ea typeface="Arial"/>
                <a:cs typeface="Arial"/>
              </a:defRPr>
            </a:pPr>
            <a:r>
              <a:rPr sz="1350" b="0">
                <a:solidFill>
                  <a:srgbClr val="B4C0D8"/>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A457E1B3-3DB0-440F-957D-16C8B427BF44}"/>
              </a:ext>
            </a:extLst>
          </p:cNvPr>
          <p:cNvSpPr>
            <a:spLocks xmlns:a="http://schemas.openxmlformats.org/drawingml/2006/main" noGrp="1"/>
          </p:cNvSpPr>
          <p:nvPr/>
        </p:nvSpPr>
        <p:spPr>
          <a:xfrm xmlns:a="http://schemas.openxmlformats.org/drawingml/2006/main">
            <a:off x="647700" y="1714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5F7FF"/>
                </a:solidFill>
                <a:latin typeface="Arial"/>
                <a:ea typeface="Arial"/>
                <a:cs typeface="Arial"/>
              </a:defRPr>
            </a:defPPr>
          </a:lstStyle>
          <a:p xmlns:a="http://schemas.openxmlformats.org/drawingml/2006/main">
            <a:pPr>
              <a:defRPr sz="2550" b="0">
                <a:solidFill>
                  <a:srgbClr val="F5F7FF"/>
                </a:solidFill>
                <a:latin typeface="Arial"/>
                <a:ea typeface="Arial"/>
                <a:cs typeface="Arial"/>
              </a:defRPr>
            </a:pPr>
            <a:r>
              <a:rPr sz="2550" b="0">
                <a:solidFill>
                  <a:srgbClr val="F5F7FF"/>
                </a:solidFill>
                <a:latin typeface="Arial"/>
                <a:ea typeface="Arial"/>
                <a:cs typeface="Arial"/>
              </a:rPr>
              <a:t>1. Load the execution demo</a:t>
            </a:r>
          </a:p>
          <a:p xmlns:a="http://schemas.openxmlformats.org/drawingml/2006/main">
            <a:pPr>
              <a:defRPr sz="2550" b="0">
                <a:solidFill>
                  <a:srgbClr val="F5F7FF"/>
                </a:solidFill>
                <a:latin typeface="Arial"/>
                <a:ea typeface="Arial"/>
                <a:cs typeface="Arial"/>
              </a:defRPr>
            </a:pPr>
            <a:r>
              <a:rPr sz="2550" b="0">
                <a:solidFill>
                  <a:srgbClr val="F5F7FF"/>
                </a:solidFill>
                <a:latin typeface="Arial"/>
                <a:ea typeface="Arial"/>
                <a:cs typeface="Arial"/>
              </a:rPr>
              <a:t>2. Find a failing test</a:t>
            </a:r>
          </a:p>
          <a:p xmlns:a="http://schemas.openxmlformats.org/drawingml/2006/main">
            <a:pPr>
              <a:defRPr sz="2550" b="0">
                <a:solidFill>
                  <a:srgbClr val="F5F7FF"/>
                </a:solidFill>
                <a:latin typeface="Arial"/>
                <a:ea typeface="Arial"/>
                <a:cs typeface="Arial"/>
              </a:defRPr>
            </a:pPr>
            <a:r>
              <a:rPr sz="2550" b="0">
                <a:solidFill>
                  <a:srgbClr val="F5F7FF"/>
                </a:solidFill>
                <a:latin typeface="Arial"/>
                <a:ea typeface="Arial"/>
                <a:cs typeface="Arial"/>
              </a:rPr>
              <a:t>3. Show the smaller input and variable difference</a:t>
            </a:r>
          </a:p>
          <a:p xmlns:a="http://schemas.openxmlformats.org/drawingml/2006/main">
            <a:pPr>
              <a:defRPr sz="2550" b="0">
                <a:solidFill>
                  <a:srgbClr val="F5F7FF"/>
                </a:solidFill>
                <a:latin typeface="Arial"/>
                <a:ea typeface="Arial"/>
                <a:cs typeface="Arial"/>
              </a:defRPr>
            </a:pPr>
            <a:r>
              <a:rPr sz="2550" b="0">
                <a:solidFill>
                  <a:srgbClr val="F5F7FF"/>
                </a:solidFill>
                <a:latin typeface="Arial"/>
                <a:ea typeface="Arial"/>
                <a:cs typeface="Arial"/>
              </a:rPr>
              <a:t>4. Generate and check a proposed fix</a:t>
            </a:r>
          </a:p>
        </p:txBody>
      </p:sp>
      <p:sp>
        <p:nvSpPr>
          <p:cNvPr id="4" name="">
            <a:extLst xmlns:a="http://schemas.openxmlformats.org/drawingml/2006/main">
              <a:ext uri="{FF2B5EF4-FFF2-40B4-BE49-F238E27FC236}">
                <a16:creationId xmlns:a16="http://schemas.microsoft.com/office/drawing/2014/main" id="{1E5CD8BA-1736-47B2-9A1B-F961F5AFFA62}"/>
              </a:ext>
            </a:extLst>
          </p:cNvPr>
          <p:cNvSpPr>
            <a:spLocks xmlns:a="http://schemas.openxmlformats.org/drawingml/2006/main" noGrp="1"/>
          </p:cNvSpPr>
          <p:nvPr/>
        </p:nvSpPr>
        <p:spPr>
          <a:xfrm xmlns:a="http://schemas.openxmlformats.org/drawingml/2006/main">
            <a:off x="647700" y="45243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C9F500"/>
                </a:solidFill>
                <a:latin typeface="Arial"/>
                <a:ea typeface="Arial"/>
                <a:cs typeface="Arial"/>
              </a:defRPr>
            </a:defPPr>
          </a:lstStyle>
          <a:p xmlns:a="http://schemas.openxmlformats.org/drawingml/2006/main">
            <a:pPr>
              <a:defRPr sz="2700" b="1">
                <a:solidFill>
                  <a:srgbClr val="C9F500"/>
                </a:solidFill>
                <a:latin typeface="Arial"/>
                <a:ea typeface="Arial"/>
                <a:cs typeface="Arial"/>
              </a:defRPr>
            </a:pPr>
            <a:r>
              <a:rPr sz="2700" b="1">
                <a:solidFill>
                  <a:srgbClr val="C9F500"/>
                </a:solidFill>
                <a:latin typeface="Arial"/>
                <a:ea typeface="Arial"/>
                <a:cs typeface="Arial"/>
              </a:rPr>
              <a:t>The user sees a clear example that fails</a:t>
            </a:r>
          </a:p>
          <a:p xmlns:a="http://schemas.openxmlformats.org/drawingml/2006/main">
            <a:pPr>
              <a:defRPr sz="2700" b="1">
                <a:solidFill>
                  <a:srgbClr val="C9F500"/>
                </a:solidFill>
                <a:latin typeface="Arial"/>
                <a:ea typeface="Arial"/>
                <a:cs typeface="Arial"/>
              </a:defRPr>
            </a:pPr>
            <a:r>
              <a:rPr sz="2700" b="1">
                <a:solidFill>
                  <a:srgbClr val="C9F500"/>
                </a:solidFill>
                <a:latin typeface="Arial"/>
                <a:ea typeface="Arial"/>
                <a:cs typeface="Arial"/>
              </a:rPr>
              <a:t>and understands the mistake.</a:t>
            </a:r>
          </a:p>
        </p:txBody>
      </p:sp>
      <p:sp>
        <p:nvSpPr>
          <p:cNvPr id="5" name="">
            <a:extLst xmlns:a="http://schemas.openxmlformats.org/drawingml/2006/main">
              <a:ext uri="{FF2B5EF4-FFF2-40B4-BE49-F238E27FC236}">
                <a16:creationId xmlns:a16="http://schemas.microsoft.com/office/drawing/2014/main" id="{1763B939-102C-420D-8759-DF082855E108}"/>
              </a:ext>
            </a:extLst>
          </p:cNvPr>
          <p:cNvSpPr>
            <a:spLocks xmlns:a="http://schemas.openxmlformats.org/drawingml/2006/main" noGrp="1"/>
          </p:cNvSpPr>
          <p:nvPr/>
        </p:nvSpPr>
        <p:spPr>
          <a:xfrm xmlns:a="http://schemas.openxmlformats.org/drawingml/2006/main">
            <a:off x="647700" y="59436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527AFF"/>
                </a:solidFill>
                <a:latin typeface="Arial"/>
                <a:ea typeface="Arial"/>
                <a:cs typeface="Arial"/>
              </a:defRPr>
            </a:defPPr>
          </a:lstStyle>
          <a:p xmlns:a="http://schemas.openxmlformats.org/drawingml/2006/main">
            <a:pPr>
              <a:defRPr sz="1800" b="1">
                <a:solidFill>
                  <a:srgbClr val="527AFF"/>
                </a:solidFill>
                <a:latin typeface="Arial"/>
                <a:ea typeface="Arial"/>
                <a:cs typeface="Arial"/>
              </a:defRPr>
            </a:pPr>
            <a:r>
              <a:rPr sz="1800" b="1">
                <a:solidFill>
                  <a:srgbClr val="527AFF"/>
                </a:solidFill>
                <a:latin typeface="Arial"/>
                <a:ea typeface="Arial"/>
                <a:cs typeface="Arial"/>
              </a:rPr>
              <a:t>casecracker-itcq4tjahosrmwkimbbxjd.streamlit.app</a:t>
            </a:r>
          </a:p>
        </p:txBody>
      </p:sp>
    </p:spTree>
    <p:extLst>
      <p:ext uri="{BB962C8B-B14F-4D97-AF65-F5344CB8AC3E}">
        <p14:creationId xmlns:p14="http://schemas.microsoft.com/office/powerpoint/2010/main" val="6169322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2026-10-31T04:13:02.6330000Z</dcterms:created>
  <dcterms:modified xsi:type="dcterms:W3CDTF">2026-10-31T04:13:02.6330000Z</dcterms:modified>
</coreProperties>
</file>